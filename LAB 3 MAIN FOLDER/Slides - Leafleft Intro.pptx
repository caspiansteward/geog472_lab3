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Slab"/>
      <p:regular r:id="rId31"/>
      <p:bold r:id="rId32"/>
    </p:embeddedFont>
    <p:embeddedFont>
      <p:font typeface="Raleway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gSmiA5r69S/cUOcQ90XBcwcT0H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lab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font" Target="fonts/RobotoSlab-bold.fntdata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From penn state’s online gis courses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 say should, because </a:t>
            </a:r>
            <a:r>
              <a:rPr i="1" lang="en"/>
              <a:t>sometimes</a:t>
            </a:r>
            <a:r>
              <a:rPr lang="en"/>
              <a:t> this hasn’t worked for me.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Remember this slide! We’re going to build off of this.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1" name="Google Shape;31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9" name="Google Shape;3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3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3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3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2" name="Google Shape;62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3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3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2" name="Google Shape;72;p3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3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.to/camptocamp-geo/the-3-best-open-source-web-mapping-libraries-57o7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leafletjs.com/examples/quick-start/" TargetMode="External"/><Relationship Id="rId4" Type="http://schemas.openxmlformats.org/officeDocument/2006/relationships/hyperlink" Target="https://leafletjs.com/examples/geojson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Debugging and Leaflet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What is it, why we’re using it, and making our ‘first’ map (again)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Today’s Outline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Char char="●"/>
            </a:pPr>
            <a:r>
              <a:rPr lang="en" sz="2200">
                <a:latin typeface="Roboto Slab"/>
                <a:ea typeface="Roboto Slab"/>
                <a:cs typeface="Roboto Slab"/>
                <a:sym typeface="Roboto Slab"/>
              </a:rPr>
              <a:t>A quick review</a:t>
            </a:r>
            <a:endParaRPr sz="2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683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Char char="○"/>
            </a:pPr>
            <a:r>
              <a:rPr lang="en" sz="2200">
                <a:latin typeface="Roboto Slab"/>
                <a:ea typeface="Roboto Slab"/>
                <a:cs typeface="Roboto Slab"/>
                <a:sym typeface="Roboto Slab"/>
              </a:rPr>
              <a:t>“Where are we? Where are we headed?”</a:t>
            </a:r>
            <a:endParaRPr sz="2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Char char="●"/>
            </a:pPr>
            <a:r>
              <a:rPr lang="en" sz="2200">
                <a:latin typeface="Roboto Slab"/>
                <a:ea typeface="Roboto Slab"/>
                <a:cs typeface="Roboto Slab"/>
                <a:sym typeface="Roboto Slab"/>
              </a:rPr>
              <a:t>Debugging</a:t>
            </a:r>
            <a:endParaRPr sz="2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Char char="●"/>
            </a:pPr>
            <a:r>
              <a:rPr lang="en" sz="2200">
                <a:latin typeface="Roboto Slab"/>
                <a:ea typeface="Roboto Slab"/>
                <a:cs typeface="Roboto Slab"/>
                <a:sym typeface="Roboto Slab"/>
              </a:rPr>
              <a:t>What’s a library?</a:t>
            </a:r>
            <a:endParaRPr sz="2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Char char="●"/>
            </a:pPr>
            <a:r>
              <a:rPr lang="en" sz="2200">
                <a:latin typeface="Roboto Slab"/>
                <a:ea typeface="Roboto Slab"/>
                <a:cs typeface="Roboto Slab"/>
                <a:sym typeface="Roboto Slab"/>
              </a:rPr>
              <a:t>What’s Leaflet?</a:t>
            </a:r>
            <a:endParaRPr sz="2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Slab"/>
              <a:buChar char="●"/>
            </a:pPr>
            <a:r>
              <a:rPr lang="en" sz="2200">
                <a:latin typeface="Roboto Slab"/>
                <a:ea typeface="Roboto Slab"/>
                <a:cs typeface="Roboto Slab"/>
                <a:sym typeface="Roboto Slab"/>
              </a:rPr>
              <a:t>Let’s make a map</a:t>
            </a:r>
            <a:endParaRPr sz="22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788" y="1385888"/>
            <a:ext cx="72104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We reference objects through the DOM which allows for interactivity… and all web mapping… to take place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a bit canned, but let’s see how you can use javascript to manipulate the DOM and ‘create’ a web page.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your /js/ directory, create a file called [whatever].js (I called mine scripts.js)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Now, let’s load and inspect it…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1121" y="499657"/>
            <a:ext cx="4640374" cy="461079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1095025" y="4121500"/>
            <a:ext cx="304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Notice I’m doing something very sloppy here, what is it?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25" y="2168425"/>
            <a:ext cx="74866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If… else if… else…</a:t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0"/>
            <a:ext cx="3388953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6478" y="1853850"/>
            <a:ext cx="23332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For… (why I like it)</a:t>
            </a:r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8650" y="1853850"/>
            <a:ext cx="3299492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006250"/>
            <a:ext cx="47529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0713" y="2933700"/>
            <a:ext cx="10763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While… 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3295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4972" y="1318650"/>
            <a:ext cx="2481302" cy="3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AJAX!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729450" y="2078875"/>
            <a:ext cx="41559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Slab"/>
              <a:buChar char="●"/>
            </a:pPr>
            <a:r>
              <a:rPr b="1" lang="en" sz="1600">
                <a:latin typeface="Roboto Slab"/>
                <a:ea typeface="Roboto Slab"/>
                <a:cs typeface="Roboto Slab"/>
                <a:sym typeface="Roboto Slab"/>
              </a:rPr>
              <a:t>Asynchronous JavaScript and XML</a:t>
            </a:r>
            <a:endParaRPr b="1"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○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Early web pages were static. Any update required a complete reload of the page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○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But… remember how the DOM made everything into an object?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AJAX allows for data to be sent for and received from an outside resource </a:t>
            </a:r>
            <a:r>
              <a:rPr b="1" lang="en" sz="1400">
                <a:latin typeface="Roboto Slab"/>
                <a:ea typeface="Roboto Slab"/>
                <a:cs typeface="Roboto Slab"/>
                <a:sym typeface="Roboto Slab"/>
              </a:rPr>
              <a:t>without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 disrupting the entire page’s state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5346" y="2380239"/>
            <a:ext cx="3774300" cy="246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 this…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5783" y="2571749"/>
            <a:ext cx="4149841" cy="2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443" y="2029661"/>
            <a:ext cx="3391906" cy="20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First…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Let’s add something to our script in our index.html document</a:t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Do you see the ‘defer’ there?</a:t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This </a:t>
            </a:r>
            <a:r>
              <a:rPr i="1" lang="en" sz="1457">
                <a:latin typeface="Roboto Slab"/>
                <a:ea typeface="Roboto Slab"/>
                <a:cs typeface="Roboto Slab"/>
                <a:sym typeface="Roboto Slab"/>
              </a:rPr>
              <a:t>should</a:t>
            </a: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 begin downloading the script immediately, but it won’t execute until the page is loaded!</a:t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2705025"/>
            <a:ext cx="48863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Second…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729450" y="2078875"/>
            <a:ext cx="7688700" cy="30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Let’s head over to our scripts page and add something like this: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Woah! That’s a lot! Let’s talk through it today and then use it to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MAKE A MAP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on Monday!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71750"/>
            <a:ext cx="9091650" cy="13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Sometimes it’s easy: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675" y="2571750"/>
            <a:ext cx="45434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1150" y="3404350"/>
            <a:ext cx="456247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177" name="Google Shape;177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Sometimes it’s not…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3524" y="676075"/>
            <a:ext cx="3656874" cy="432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184" name="Google Shape;184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AutoNum type="arabicPeriod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Your console will often show errors.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AutoNum type="arabicPeriod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When it doesn’t…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console.log(“This is X part of the program!”)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roman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Insert into various </a:t>
            </a: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levels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 of your code.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roman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Let’s you see if certain functions/variables/loops are or aren’t being called properly.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ChatGPT can also be used to spot errors in code.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Debugging takes time and patience.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the tools at your disposal.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Leaflet is a javascript mapping library</a:t>
            </a:r>
            <a:endParaRPr/>
          </a:p>
        </p:txBody>
      </p:sp>
      <p:sp>
        <p:nvSpPr>
          <p:cNvPr id="195" name="Google Shape;19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Libraries are pre-written bundles of code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The contain… functions, methods, objects (classes), etc.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Javascript has many built in functions, methods, classes, and so on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But, can’t contain </a:t>
            </a: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everything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 that could be coded…</a:t>
            </a:r>
            <a:br>
              <a:rPr lang="en" sz="1500">
                <a:latin typeface="Roboto Slab"/>
                <a:ea typeface="Roboto Slab"/>
                <a:cs typeface="Roboto Slab"/>
                <a:sym typeface="Roboto Slab"/>
              </a:rPr>
            </a:b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Libraries simplify and speed up development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You don’t need to reinvent the wheel every time!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They allow for people to specialize in areas that interest them!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In many ways, libraries are at the core of open-source development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Leaflet is…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open-source javascript web mapping library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Uses pre-rendered tilesets and includes methods for geospatial data overlays and other cartographic interactions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02" name="Google Shape;2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" y="3159286"/>
            <a:ext cx="9144000" cy="154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 Javascript, libraries can be local or remote…</a:t>
            </a:r>
            <a:endParaRPr/>
          </a:p>
        </p:txBody>
      </p:sp>
      <p:pic>
        <p:nvPicPr>
          <p:cNvPr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200" y="3636650"/>
            <a:ext cx="8839200" cy="97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125" y="2238377"/>
            <a:ext cx="60388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Leaflet has its limitations…</a:t>
            </a:r>
            <a:endParaRPr/>
          </a:p>
        </p:txBody>
      </p:sp>
      <p:sp>
        <p:nvSpPr>
          <p:cNvPr id="215" name="Google Shape;215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3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3"/>
              <a:buFont typeface="Roboto Slab"/>
              <a:buChar char="●"/>
            </a:pPr>
            <a:r>
              <a:rPr lang="en" sz="1602">
                <a:latin typeface="Roboto Slab"/>
                <a:ea typeface="Roboto Slab"/>
                <a:cs typeface="Roboto Slab"/>
                <a:sym typeface="Roboto Slab"/>
              </a:rPr>
              <a:t>Limited geospatial functions (is not a ‘gis’)</a:t>
            </a:r>
            <a:endParaRPr sz="1602">
              <a:latin typeface="Roboto Slab"/>
              <a:ea typeface="Roboto Slab"/>
              <a:cs typeface="Roboto Slab"/>
              <a:sym typeface="Roboto Slab"/>
            </a:endParaRPr>
          </a:p>
          <a:p>
            <a:pPr indent="-3303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3"/>
              <a:buFont typeface="Roboto Slab"/>
              <a:buChar char="●"/>
            </a:pPr>
            <a:r>
              <a:rPr lang="en" sz="1602">
                <a:latin typeface="Roboto Slab"/>
                <a:ea typeface="Roboto Slab"/>
                <a:cs typeface="Roboto Slab"/>
                <a:sym typeface="Roboto Slab"/>
              </a:rPr>
              <a:t>More advanced interactions require plugins (other libraries that work with leaflet in specific ways)</a:t>
            </a:r>
            <a:endParaRPr sz="1602">
              <a:latin typeface="Roboto Slab"/>
              <a:ea typeface="Roboto Slab"/>
              <a:cs typeface="Roboto Slab"/>
              <a:sym typeface="Roboto Slab"/>
            </a:endParaRPr>
          </a:p>
          <a:p>
            <a:pPr indent="-3303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3"/>
              <a:buFont typeface="Roboto Slab"/>
              <a:buChar char="●"/>
            </a:pPr>
            <a:r>
              <a:rPr lang="en" sz="1602">
                <a:latin typeface="Roboto Slab"/>
                <a:ea typeface="Roboto Slab"/>
                <a:cs typeface="Roboto Slab"/>
                <a:sym typeface="Roboto Slab"/>
              </a:rPr>
              <a:t>Custom projections are very difficult (Leaflet relies on Web Mercator mostly)</a:t>
            </a:r>
            <a:endParaRPr sz="1602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02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602">
                <a:latin typeface="Roboto Slab"/>
                <a:ea typeface="Roboto Slab"/>
                <a:cs typeface="Roboto Slab"/>
                <a:sym typeface="Roboto Slab"/>
              </a:rPr>
              <a:t>But, the plugin community is robust with many mapping platforms relying on parts of the leaflet code base (mapbox, carto, etc.)</a:t>
            </a:r>
            <a:endParaRPr sz="1602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602">
                <a:latin typeface="Roboto Slab"/>
                <a:ea typeface="Roboto Slab"/>
                <a:cs typeface="Roboto Slab"/>
                <a:sym typeface="Roboto Slab"/>
              </a:rPr>
              <a:t>For a good discussion of three of the most popular mapping libraries, see this blog post: </a:t>
            </a:r>
            <a:r>
              <a:rPr lang="en" sz="1417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The 3 best open source web mapping libraries - DEV Community</a:t>
            </a:r>
            <a:endParaRPr sz="1602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take Leaflet out for a spin…</a:t>
            </a:r>
            <a:endParaRPr/>
          </a:p>
        </p:txBody>
      </p:sp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729450" y="2078875"/>
            <a:ext cx="7688700" cy="3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3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2"/>
              <a:buFont typeface="Roboto Slab"/>
              <a:buChar char="●"/>
            </a:pPr>
            <a:r>
              <a:rPr lang="en" sz="1492">
                <a:latin typeface="Roboto Slab"/>
                <a:ea typeface="Roboto Slab"/>
                <a:cs typeface="Roboto Slab"/>
                <a:sym typeface="Roboto Slab"/>
              </a:rPr>
              <a:t>First, follow the “Gettin Started” tutorial to add a map to a web page of your creation.</a:t>
            </a:r>
            <a:endParaRPr sz="1492">
              <a:latin typeface="Roboto Slab"/>
              <a:ea typeface="Roboto Slab"/>
              <a:cs typeface="Roboto Slab"/>
              <a:sym typeface="Roboto Slab"/>
            </a:endParaRPr>
          </a:p>
          <a:p>
            <a:pPr indent="-31254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22"/>
              <a:buFont typeface="Roboto Slab"/>
              <a:buChar char="○"/>
            </a:pPr>
            <a:r>
              <a:rPr lang="en" sz="1322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Quick Start Guide - Leaflet - a JavaScript library for interactive maps (leafletjs.com)</a:t>
            </a:r>
            <a:endParaRPr sz="1322">
              <a:latin typeface="Roboto Slab"/>
              <a:ea typeface="Roboto Slab"/>
              <a:cs typeface="Roboto Slab"/>
              <a:sym typeface="Roboto Slab"/>
            </a:endParaRPr>
          </a:p>
          <a:p>
            <a:pPr indent="-3233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2"/>
              <a:buFont typeface="Roboto Slab"/>
              <a:buChar char="●"/>
            </a:pPr>
            <a:r>
              <a:rPr lang="en" sz="1492">
                <a:latin typeface="Roboto Slab"/>
                <a:ea typeface="Roboto Slab"/>
                <a:cs typeface="Roboto Slab"/>
                <a:sym typeface="Roboto Slab"/>
              </a:rPr>
              <a:t>Second, add your old friend airports.geojson to the map</a:t>
            </a:r>
            <a:endParaRPr sz="1492">
              <a:latin typeface="Roboto Slab"/>
              <a:ea typeface="Roboto Slab"/>
              <a:cs typeface="Roboto Slab"/>
              <a:sym typeface="Roboto Slab"/>
            </a:endParaRPr>
          </a:p>
          <a:p>
            <a:pPr indent="-31254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22"/>
              <a:buChar char="○"/>
            </a:pPr>
            <a:r>
              <a:rPr lang="en" sz="1322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4"/>
              </a:rPr>
              <a:t>Using GeoJSON with Leaflet - Leaflet - a JavaScript library for interactive maps (leafletjs.com)</a:t>
            </a:r>
            <a:br>
              <a:rPr lang="en" sz="1322">
                <a:latin typeface="Roboto Slab"/>
                <a:ea typeface="Roboto Slab"/>
                <a:cs typeface="Roboto Slab"/>
                <a:sym typeface="Roboto Slab"/>
              </a:rPr>
            </a:br>
            <a:br>
              <a:rPr lang="en" sz="1322">
                <a:latin typeface="Roboto Slab"/>
                <a:ea typeface="Roboto Slab"/>
                <a:cs typeface="Roboto Slab"/>
                <a:sym typeface="Roboto Slab"/>
              </a:rPr>
            </a:br>
            <a:endParaRPr sz="1322">
              <a:latin typeface="Roboto Slab"/>
              <a:ea typeface="Roboto Slab"/>
              <a:cs typeface="Roboto Slab"/>
              <a:sym typeface="Roboto Slab"/>
            </a:endParaRPr>
          </a:p>
          <a:p>
            <a:pPr indent="-3233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92"/>
              <a:buFont typeface="Roboto Slab"/>
              <a:buChar char="●"/>
            </a:pPr>
            <a:r>
              <a:rPr lang="en" sz="1492">
                <a:latin typeface="Roboto Slab"/>
                <a:ea typeface="Roboto Slab"/>
                <a:cs typeface="Roboto Slab"/>
                <a:sym typeface="Roboto Slab"/>
              </a:rPr>
              <a:t>Feel free to explore styling or clustering or other tools you can use to change the look/presentation of the geojson file.</a:t>
            </a:r>
            <a:endParaRPr sz="1492">
              <a:latin typeface="Roboto Slab"/>
              <a:ea typeface="Roboto Slab"/>
              <a:cs typeface="Roboto Slab"/>
              <a:sym typeface="Roboto Slab"/>
            </a:endParaRPr>
          </a:p>
          <a:p>
            <a:pPr indent="-31254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22"/>
              <a:buFont typeface="Roboto Slab"/>
              <a:buChar char="○"/>
            </a:pPr>
            <a:r>
              <a:rPr lang="en" sz="1322">
                <a:latin typeface="Roboto Slab"/>
                <a:ea typeface="Roboto Slab"/>
                <a:cs typeface="Roboto Slab"/>
                <a:sym typeface="Roboto Slab"/>
              </a:rPr>
              <a:t>You can create pop ups with information.</a:t>
            </a:r>
            <a:endParaRPr sz="1322">
              <a:latin typeface="Roboto Slab"/>
              <a:ea typeface="Roboto Slab"/>
              <a:cs typeface="Roboto Slab"/>
              <a:sym typeface="Roboto Slab"/>
            </a:endParaRPr>
          </a:p>
          <a:p>
            <a:pPr indent="-31254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22"/>
              <a:buFont typeface="Roboto Slab"/>
              <a:buChar char="○"/>
            </a:pPr>
            <a:r>
              <a:rPr lang="en" sz="1322">
                <a:latin typeface="Roboto Slab"/>
                <a:ea typeface="Roboto Slab"/>
                <a:cs typeface="Roboto Slab"/>
                <a:sym typeface="Roboto Slab"/>
              </a:rPr>
              <a:t>You could change it so that different </a:t>
            </a:r>
            <a:r>
              <a:rPr i="1" lang="en" sz="1322">
                <a:latin typeface="Roboto Slab"/>
                <a:ea typeface="Roboto Slab"/>
                <a:cs typeface="Roboto Slab"/>
                <a:sym typeface="Roboto Slab"/>
              </a:rPr>
              <a:t>types</a:t>
            </a:r>
            <a:r>
              <a:rPr lang="en" sz="1322">
                <a:latin typeface="Roboto Slab"/>
                <a:ea typeface="Roboto Slab"/>
                <a:cs typeface="Roboto Slab"/>
                <a:sym typeface="Roboto Slab"/>
              </a:rPr>
              <a:t> of airports have different markers.</a:t>
            </a:r>
            <a:endParaRPr sz="1322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20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723900"/>
            <a:ext cx="6534150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175" y="1847850"/>
            <a:ext cx="25336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" y="135625"/>
            <a:ext cx="9091650" cy="1304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24"/>
          <p:cNvCxnSpPr/>
          <p:nvPr/>
        </p:nvCxnSpPr>
        <p:spPr>
          <a:xfrm>
            <a:off x="4309500" y="1775175"/>
            <a:ext cx="0" cy="90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016900"/>
            <a:ext cx="8839201" cy="125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4650" y="152400"/>
            <a:ext cx="475469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