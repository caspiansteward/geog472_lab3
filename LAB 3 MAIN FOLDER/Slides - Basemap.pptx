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Slab"/>
      <p:regular r:id="rId30"/>
      <p:bold r:id="rId31"/>
    </p:embeddedFont>
    <p:embeddedFont>
      <p:font typeface="Raleway"/>
      <p:regular r:id="rId32"/>
      <p:bold r:id="rId33"/>
      <p:italic r:id="rId34"/>
      <p:boldItalic r:id="rId35"/>
    </p:embeddedFon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0" roundtripDataSignature="AMtx7mgCkeTT4V/v4AjWpxMg8V7gbt9r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lab-bold.fntdata"/><Relationship Id="rId30" Type="http://schemas.openxmlformats.org/officeDocument/2006/relationships/font" Target="fonts/RobotoSlab-regular.fntdata"/><Relationship Id="rId11" Type="http://schemas.openxmlformats.org/officeDocument/2006/relationships/slide" Target="slides/slide6.xml"/><Relationship Id="rId33" Type="http://schemas.openxmlformats.org/officeDocument/2006/relationships/font" Target="fonts/Raleway-bold.fntdata"/><Relationship Id="rId10" Type="http://schemas.openxmlformats.org/officeDocument/2006/relationships/slide" Target="slides/slide5.xml"/><Relationship Id="rId32" Type="http://schemas.openxmlformats.org/officeDocument/2006/relationships/font" Target="fonts/Raleway-regular.fntdata"/><Relationship Id="rId13" Type="http://schemas.openxmlformats.org/officeDocument/2006/relationships/slide" Target="slides/slide8.xml"/><Relationship Id="rId35" Type="http://schemas.openxmlformats.org/officeDocument/2006/relationships/font" Target="fonts/Raleway-boldItalic.fntdata"/><Relationship Id="rId12" Type="http://schemas.openxmlformats.org/officeDocument/2006/relationships/slide" Target="slides/slide7.xml"/><Relationship Id="rId34" Type="http://schemas.openxmlformats.org/officeDocument/2006/relationships/font" Target="fonts/Raleway-italic.fntdata"/><Relationship Id="rId15" Type="http://schemas.openxmlformats.org/officeDocument/2006/relationships/slide" Target="slides/slide10.xml"/><Relationship Id="rId37" Type="http://schemas.openxmlformats.org/officeDocument/2006/relationships/font" Target="fonts/Lato-bold.fntdata"/><Relationship Id="rId14" Type="http://schemas.openxmlformats.org/officeDocument/2006/relationships/slide" Target="slides/slide9.xml"/><Relationship Id="rId36" Type="http://schemas.openxmlformats.org/officeDocument/2006/relationships/font" Target="fonts/Lato-regular.fntdata"/><Relationship Id="rId17" Type="http://schemas.openxmlformats.org/officeDocument/2006/relationships/slide" Target="slides/slide12.xml"/><Relationship Id="rId39" Type="http://schemas.openxmlformats.org/officeDocument/2006/relationships/font" Target="fonts/Lato-boldItalic.fntdata"/><Relationship Id="rId16" Type="http://schemas.openxmlformats.org/officeDocument/2006/relationships/slide" Target="slides/slide11.xml"/><Relationship Id="rId38" Type="http://schemas.openxmlformats.org/officeDocument/2006/relationships/font" Target="fonts/La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stbok.ucgis.org/bok-topics/visual-hierarchy-and-layou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actually is a web map, but i’ve taken a static image here.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actually is a web map, but i’ve taken a static image here.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CV-07 - Visual Hierarchy and Layout | GIS&amp;T Body of Knowledge (ucgis.org)</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6"/>
          <p:cNvGrpSpPr/>
          <p:nvPr/>
        </p:nvGrpSpPr>
        <p:grpSpPr>
          <a:xfrm>
            <a:off x="830392" y="1191256"/>
            <a:ext cx="745763" cy="45826"/>
            <a:chOff x="4580561" y="2589004"/>
            <a:chExt cx="1064464" cy="25200"/>
          </a:xfrm>
        </p:grpSpPr>
        <p:sp>
          <p:nvSpPr>
            <p:cNvPr id="12" name="Google Shape;12;p2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27"/>
          <p:cNvGrpSpPr/>
          <p:nvPr/>
        </p:nvGrpSpPr>
        <p:grpSpPr>
          <a:xfrm>
            <a:off x="830392" y="1191256"/>
            <a:ext cx="745763" cy="45826"/>
            <a:chOff x="4580561" y="2589004"/>
            <a:chExt cx="1064464" cy="25200"/>
          </a:xfrm>
        </p:grpSpPr>
        <p:sp>
          <p:nvSpPr>
            <p:cNvPr id="20" name="Google Shape;20;p2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2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2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 name="Shape 25"/>
        <p:cNvGrpSpPr/>
        <p:nvPr/>
      </p:nvGrpSpPr>
      <p:grpSpPr>
        <a:xfrm>
          <a:off x="0" y="0"/>
          <a:ext cx="0" cy="0"/>
          <a:chOff x="0" y="0"/>
          <a:chExt cx="0" cy="0"/>
        </a:xfrm>
      </p:grpSpPr>
      <p:sp>
        <p:nvSpPr>
          <p:cNvPr id="26" name="Google Shape;26;p28"/>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27" name="Google Shape;27;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28" name="Shape 28"/>
        <p:cNvGrpSpPr/>
        <p:nvPr/>
      </p:nvGrpSpPr>
      <p:grpSpPr>
        <a:xfrm>
          <a:off x="0" y="0"/>
          <a:ext cx="0" cy="0"/>
          <a:chOff x="0" y="0"/>
          <a:chExt cx="0" cy="0"/>
        </a:xfrm>
      </p:grpSpPr>
      <p:grpSp>
        <p:nvGrpSpPr>
          <p:cNvPr id="29" name="Google Shape;29;p29"/>
          <p:cNvGrpSpPr/>
          <p:nvPr/>
        </p:nvGrpSpPr>
        <p:grpSpPr>
          <a:xfrm>
            <a:off x="830392" y="4169130"/>
            <a:ext cx="745763" cy="45826"/>
            <a:chOff x="4580561" y="2589004"/>
            <a:chExt cx="1064464" cy="25200"/>
          </a:xfrm>
        </p:grpSpPr>
        <p:sp>
          <p:nvSpPr>
            <p:cNvPr id="30" name="Google Shape;30;p29"/>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9"/>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 name="Google Shape;32;p29"/>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3" name="Google Shape;33;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3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 name="Google Shape;36;p30"/>
          <p:cNvGrpSpPr/>
          <p:nvPr/>
        </p:nvGrpSpPr>
        <p:grpSpPr>
          <a:xfrm>
            <a:off x="830392" y="1191256"/>
            <a:ext cx="745763" cy="45826"/>
            <a:chOff x="4580561" y="2589004"/>
            <a:chExt cx="1064464" cy="25200"/>
          </a:xfrm>
        </p:grpSpPr>
        <p:sp>
          <p:nvSpPr>
            <p:cNvPr id="37" name="Google Shape;37;p3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3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 name="Google Shape;39;p3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0" name="Google Shape;40;p30"/>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1" name="Google Shape;41;p30"/>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2" name="Google Shape;42;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5" name="Shape 45"/>
        <p:cNvGrpSpPr/>
        <p:nvPr/>
      </p:nvGrpSpPr>
      <p:grpSpPr>
        <a:xfrm>
          <a:off x="0" y="0"/>
          <a:ext cx="0" cy="0"/>
          <a:chOff x="0" y="0"/>
          <a:chExt cx="0" cy="0"/>
        </a:xfrm>
      </p:grpSpPr>
      <p:grpSp>
        <p:nvGrpSpPr>
          <p:cNvPr id="46" name="Google Shape;46;p32"/>
          <p:cNvGrpSpPr/>
          <p:nvPr/>
        </p:nvGrpSpPr>
        <p:grpSpPr>
          <a:xfrm>
            <a:off x="830392" y="1191256"/>
            <a:ext cx="745763" cy="45826"/>
            <a:chOff x="4580561" y="2589004"/>
            <a:chExt cx="1064464" cy="25200"/>
          </a:xfrm>
        </p:grpSpPr>
        <p:sp>
          <p:nvSpPr>
            <p:cNvPr id="47" name="Google Shape;47;p3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 name="Google Shape;49;p32"/>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50" name="Google Shape;50;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3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 name="Google Shape;53;p33"/>
          <p:cNvGrpSpPr/>
          <p:nvPr/>
        </p:nvGrpSpPr>
        <p:grpSpPr>
          <a:xfrm>
            <a:off x="830392" y="1191256"/>
            <a:ext cx="745763" cy="45826"/>
            <a:chOff x="4580561" y="2589004"/>
            <a:chExt cx="1064464" cy="25200"/>
          </a:xfrm>
        </p:grpSpPr>
        <p:sp>
          <p:nvSpPr>
            <p:cNvPr id="54" name="Google Shape;54;p3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 name="Google Shape;56;p3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7" name="Google Shape;57;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8" name="Shape 58"/>
        <p:cNvGrpSpPr/>
        <p:nvPr/>
      </p:nvGrpSpPr>
      <p:grpSpPr>
        <a:xfrm>
          <a:off x="0" y="0"/>
          <a:ext cx="0" cy="0"/>
          <a:chOff x="0" y="0"/>
          <a:chExt cx="0" cy="0"/>
        </a:xfrm>
      </p:grpSpPr>
      <p:sp>
        <p:nvSpPr>
          <p:cNvPr id="59" name="Google Shape;59;p3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 name="Google Shape;60;p34"/>
          <p:cNvGrpSpPr/>
          <p:nvPr/>
        </p:nvGrpSpPr>
        <p:grpSpPr>
          <a:xfrm>
            <a:off x="830392" y="1191256"/>
            <a:ext cx="745763" cy="45826"/>
            <a:chOff x="4580561" y="2589004"/>
            <a:chExt cx="1064464" cy="25200"/>
          </a:xfrm>
        </p:grpSpPr>
        <p:sp>
          <p:nvSpPr>
            <p:cNvPr id="61" name="Google Shape;61;p3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34"/>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4" name="Google Shape;64;p34"/>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5" name="Google Shape;65;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6" name="Shape 66"/>
        <p:cNvGrpSpPr/>
        <p:nvPr/>
      </p:nvGrpSpPr>
      <p:grpSpPr>
        <a:xfrm>
          <a:off x="0" y="0"/>
          <a:ext cx="0" cy="0"/>
          <a:chOff x="0" y="0"/>
          <a:chExt cx="0" cy="0"/>
        </a:xfrm>
      </p:grpSpPr>
      <p:sp>
        <p:nvSpPr>
          <p:cNvPr id="67" name="Google Shape;67;p35"/>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8" name="Google Shape;68;p35"/>
          <p:cNvGrpSpPr/>
          <p:nvPr/>
        </p:nvGrpSpPr>
        <p:grpSpPr>
          <a:xfrm>
            <a:off x="830392" y="1191256"/>
            <a:ext cx="745763" cy="45826"/>
            <a:chOff x="4580561" y="2589004"/>
            <a:chExt cx="1064464" cy="25200"/>
          </a:xfrm>
        </p:grpSpPr>
        <p:sp>
          <p:nvSpPr>
            <p:cNvPr id="69" name="Google Shape;69;p3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 name="Google Shape;71;p35"/>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2" name="Google Shape;72;p35"/>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3" name="Google Shape;73;p35"/>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4" name="Google Shape;74;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5" name="Shape 75"/>
        <p:cNvGrpSpPr/>
        <p:nvPr/>
      </p:nvGrpSpPr>
      <p:grpSpPr>
        <a:xfrm>
          <a:off x="0" y="0"/>
          <a:ext cx="0" cy="0"/>
          <a:chOff x="0" y="0"/>
          <a:chExt cx="0" cy="0"/>
        </a:xfrm>
      </p:grpSpPr>
      <p:grpSp>
        <p:nvGrpSpPr>
          <p:cNvPr id="76" name="Google Shape;76;p36"/>
          <p:cNvGrpSpPr/>
          <p:nvPr/>
        </p:nvGrpSpPr>
        <p:grpSpPr>
          <a:xfrm>
            <a:off x="830392" y="4169130"/>
            <a:ext cx="745763" cy="45826"/>
            <a:chOff x="4580561" y="2589004"/>
            <a:chExt cx="1064464" cy="25200"/>
          </a:xfrm>
        </p:grpSpPr>
        <p:sp>
          <p:nvSpPr>
            <p:cNvPr id="77" name="Google Shape;77;p3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36"/>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36"/>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1" name="Google Shape;81;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pro.arcgis.com/en/pro-app/latest/help/mapping/map-authoring/author-a-basemap.htm" TargetMode="External"/><Relationship Id="rId4" Type="http://schemas.openxmlformats.org/officeDocument/2006/relationships/hyperlink" Target="https://www.geospatialworld.net/videos/what-is-a-basema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hyperlink" Target="https://philogb.github.io/page/myriahedra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leaflet-extras.github.io/leaflet-providers/preview/"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n"/>
              <a:t>What is a basemap?</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n"/>
              <a:t>Is ‘hamburger cartography’ real?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Today’s Outline</a:t>
            </a:r>
            <a:endParaRPr/>
          </a:p>
        </p:txBody>
      </p:sp>
      <p:sp>
        <p:nvSpPr>
          <p:cNvPr id="93" name="Google Shape;93;p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SzPts val="1900"/>
              <a:buFont typeface="Roboto Slab"/>
              <a:buChar char="●"/>
            </a:pPr>
            <a:r>
              <a:rPr lang="en" sz="1900">
                <a:latin typeface="Roboto Slab"/>
                <a:ea typeface="Roboto Slab"/>
                <a:cs typeface="Roboto Slab"/>
                <a:sym typeface="Roboto Slab"/>
              </a:rPr>
              <a:t>Review</a:t>
            </a:r>
            <a:endParaRPr sz="1900">
              <a:latin typeface="Roboto Slab"/>
              <a:ea typeface="Roboto Slab"/>
              <a:cs typeface="Roboto Slab"/>
              <a:sym typeface="Roboto Slab"/>
            </a:endParaRPr>
          </a:p>
          <a:p>
            <a:pPr indent="-336550" lvl="1" marL="914400" rtl="0" algn="l">
              <a:lnSpc>
                <a:spcPct val="115000"/>
              </a:lnSpc>
              <a:spcBef>
                <a:spcPts val="0"/>
              </a:spcBef>
              <a:spcAft>
                <a:spcPts val="0"/>
              </a:spcAft>
              <a:buSzPts val="1700"/>
              <a:buFont typeface="Roboto Slab"/>
              <a:buChar char="○"/>
            </a:pPr>
            <a:r>
              <a:rPr lang="en" sz="1700">
                <a:latin typeface="Roboto Slab"/>
                <a:ea typeface="Roboto Slab"/>
                <a:cs typeface="Roboto Slab"/>
                <a:sym typeface="Roboto Slab"/>
              </a:rPr>
              <a:t>Final Projects, any questions!?</a:t>
            </a:r>
            <a:endParaRPr sz="1700">
              <a:latin typeface="Roboto Slab"/>
              <a:ea typeface="Roboto Slab"/>
              <a:cs typeface="Roboto Slab"/>
              <a:sym typeface="Roboto Slab"/>
            </a:endParaRPr>
          </a:p>
          <a:p>
            <a:pPr indent="-349250" lvl="0" marL="457200" rtl="0" algn="l">
              <a:lnSpc>
                <a:spcPct val="115000"/>
              </a:lnSpc>
              <a:spcBef>
                <a:spcPts val="0"/>
              </a:spcBef>
              <a:spcAft>
                <a:spcPts val="0"/>
              </a:spcAft>
              <a:buSzPts val="1900"/>
              <a:buFont typeface="Roboto Slab"/>
              <a:buChar char="●"/>
            </a:pPr>
            <a:r>
              <a:rPr lang="en" sz="1900">
                <a:latin typeface="Roboto Slab"/>
                <a:ea typeface="Roboto Slab"/>
                <a:cs typeface="Roboto Slab"/>
                <a:sym typeface="Roboto Slab"/>
              </a:rPr>
              <a:t>(Web) Basemaps in history</a:t>
            </a:r>
            <a:endParaRPr sz="1900">
              <a:latin typeface="Roboto Slab"/>
              <a:ea typeface="Roboto Slab"/>
              <a:cs typeface="Roboto Slab"/>
              <a:sym typeface="Roboto Slab"/>
            </a:endParaRPr>
          </a:p>
          <a:p>
            <a:pPr indent="-349250" lvl="0" marL="457200" rtl="0" algn="l">
              <a:lnSpc>
                <a:spcPct val="115000"/>
              </a:lnSpc>
              <a:spcBef>
                <a:spcPts val="0"/>
              </a:spcBef>
              <a:spcAft>
                <a:spcPts val="0"/>
              </a:spcAft>
              <a:buSzPts val="1900"/>
              <a:buFont typeface="Roboto Slab"/>
              <a:buChar char="●"/>
            </a:pPr>
            <a:r>
              <a:rPr lang="en" sz="1900">
                <a:latin typeface="Roboto Slab"/>
                <a:ea typeface="Roboto Slab"/>
                <a:cs typeface="Roboto Slab"/>
                <a:sym typeface="Roboto Slab"/>
              </a:rPr>
              <a:t>(Web) Basemaps today</a:t>
            </a:r>
            <a:endParaRPr sz="1900">
              <a:latin typeface="Roboto Slab"/>
              <a:ea typeface="Roboto Slab"/>
              <a:cs typeface="Roboto Slab"/>
              <a:sym typeface="Roboto Slab"/>
            </a:endParaRPr>
          </a:p>
          <a:p>
            <a:pPr indent="-349250" lvl="0" marL="457200" rtl="0" algn="l">
              <a:lnSpc>
                <a:spcPct val="115000"/>
              </a:lnSpc>
              <a:spcBef>
                <a:spcPts val="0"/>
              </a:spcBef>
              <a:spcAft>
                <a:spcPts val="0"/>
              </a:spcAft>
              <a:buSzPts val="1900"/>
              <a:buFont typeface="Roboto Slab"/>
              <a:buChar char="●"/>
            </a:pPr>
            <a:r>
              <a:rPr lang="en" sz="1900">
                <a:latin typeface="Roboto Slab"/>
                <a:ea typeface="Roboto Slab"/>
                <a:cs typeface="Roboto Slab"/>
                <a:sym typeface="Roboto Slab"/>
              </a:rPr>
              <a:t>Exercise: Loading a custom tileset</a:t>
            </a:r>
            <a:endParaRPr sz="1900">
              <a:latin typeface="Roboto Slab"/>
              <a:ea typeface="Roboto Slab"/>
              <a:cs typeface="Roboto Slab"/>
              <a:sym typeface="Roboto Slab"/>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Cobbling tools and ideas together</a:t>
            </a:r>
            <a:endParaRPr/>
          </a:p>
        </p:txBody>
      </p:sp>
      <p:sp>
        <p:nvSpPr>
          <p:cNvPr id="99" name="Google Shape;99;p3"/>
          <p:cNvSpPr txBox="1"/>
          <p:nvPr>
            <p:ph idx="1" type="body"/>
          </p:nvPr>
        </p:nvSpPr>
        <p:spPr>
          <a:xfrm>
            <a:off x="729450" y="2078875"/>
            <a:ext cx="7688700" cy="29082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n" sz="1400"/>
              <a:t>How javascript, css, and html work together</a:t>
            </a:r>
            <a:endParaRPr sz="1400"/>
          </a:p>
          <a:p>
            <a:pPr indent="-304800" lvl="1" marL="914400" rtl="0" algn="l">
              <a:lnSpc>
                <a:spcPct val="115000"/>
              </a:lnSpc>
              <a:spcBef>
                <a:spcPts val="0"/>
              </a:spcBef>
              <a:spcAft>
                <a:spcPts val="0"/>
              </a:spcAft>
              <a:buSzPts val="1200"/>
              <a:buChar char="○"/>
            </a:pPr>
            <a:r>
              <a:rPr lang="en" sz="1200"/>
              <a:t>Html builds the DOM (it structures and contains the content)</a:t>
            </a:r>
            <a:endParaRPr sz="1200"/>
          </a:p>
          <a:p>
            <a:pPr indent="-304800" lvl="1" marL="914400" rtl="0" algn="l">
              <a:lnSpc>
                <a:spcPct val="115000"/>
              </a:lnSpc>
              <a:spcBef>
                <a:spcPts val="0"/>
              </a:spcBef>
              <a:spcAft>
                <a:spcPts val="0"/>
              </a:spcAft>
              <a:buSzPts val="1200"/>
              <a:buChar char="○"/>
            </a:pPr>
            <a:r>
              <a:rPr lang="en" sz="1200"/>
              <a:t>Css </a:t>
            </a:r>
            <a:r>
              <a:rPr b="1" lang="en" sz="1200"/>
              <a:t>styles</a:t>
            </a:r>
            <a:r>
              <a:rPr lang="en" sz="1200"/>
              <a:t> what is displayed (what color, what size, and so on)</a:t>
            </a:r>
            <a:endParaRPr sz="1200"/>
          </a:p>
          <a:p>
            <a:pPr indent="-304800" lvl="1" marL="914400" rtl="0" algn="l">
              <a:lnSpc>
                <a:spcPct val="115000"/>
              </a:lnSpc>
              <a:spcBef>
                <a:spcPts val="0"/>
              </a:spcBef>
              <a:spcAft>
                <a:spcPts val="0"/>
              </a:spcAft>
              <a:buSzPts val="1200"/>
              <a:buChar char="○"/>
            </a:pPr>
            <a:r>
              <a:rPr lang="en" sz="1200"/>
              <a:t>Javascript makes it interactive and dynamic (what happens when you scroll, if you click here, etc.)</a:t>
            </a:r>
            <a:endParaRPr sz="1200"/>
          </a:p>
          <a:p>
            <a:pPr indent="-317500" lvl="0" marL="457200" rtl="0" algn="l">
              <a:lnSpc>
                <a:spcPct val="115000"/>
              </a:lnSpc>
              <a:spcBef>
                <a:spcPts val="0"/>
              </a:spcBef>
              <a:spcAft>
                <a:spcPts val="0"/>
              </a:spcAft>
              <a:buSzPts val="1400"/>
              <a:buChar char="●"/>
            </a:pPr>
            <a:r>
              <a:rPr lang="en" sz="1400"/>
              <a:t>How various web technologies and tools work together</a:t>
            </a:r>
            <a:endParaRPr sz="1400"/>
          </a:p>
          <a:p>
            <a:pPr indent="-304800" lvl="1" marL="914400" rtl="0" algn="l">
              <a:lnSpc>
                <a:spcPct val="115000"/>
              </a:lnSpc>
              <a:spcBef>
                <a:spcPts val="0"/>
              </a:spcBef>
              <a:spcAft>
                <a:spcPts val="0"/>
              </a:spcAft>
              <a:buSzPts val="1200"/>
              <a:buChar char="○"/>
            </a:pPr>
            <a:r>
              <a:rPr lang="en" sz="1200"/>
              <a:t>Leaflet is a javascript mapping </a:t>
            </a:r>
            <a:r>
              <a:rPr i="1" lang="en" sz="1200"/>
              <a:t>library</a:t>
            </a:r>
            <a:r>
              <a:rPr lang="en" sz="1200"/>
              <a:t> (that also comes with its own css)</a:t>
            </a:r>
            <a:endParaRPr sz="1200"/>
          </a:p>
          <a:p>
            <a:pPr indent="-304800" lvl="1" marL="914400" rtl="0" algn="l">
              <a:lnSpc>
                <a:spcPct val="115000"/>
              </a:lnSpc>
              <a:spcBef>
                <a:spcPts val="0"/>
              </a:spcBef>
              <a:spcAft>
                <a:spcPts val="0"/>
              </a:spcAft>
              <a:buSzPts val="1200"/>
              <a:buChar char="○"/>
            </a:pPr>
            <a:r>
              <a:rPr lang="en" sz="1200"/>
              <a:t>Hamburger cartography!</a:t>
            </a:r>
            <a:endParaRPr sz="1200"/>
          </a:p>
          <a:p>
            <a:pPr indent="-317500" lvl="0" marL="457200" rtl="0" algn="l">
              <a:lnSpc>
                <a:spcPct val="115000"/>
              </a:lnSpc>
              <a:spcBef>
                <a:spcPts val="0"/>
              </a:spcBef>
              <a:spcAft>
                <a:spcPts val="0"/>
              </a:spcAft>
              <a:buSzPts val="1400"/>
              <a:buChar char="●"/>
            </a:pPr>
            <a:r>
              <a:rPr lang="en" sz="1400"/>
              <a:t>Gaining familiarity with implementing and styling interactive maps</a:t>
            </a:r>
            <a:endParaRPr sz="1400"/>
          </a:p>
          <a:p>
            <a:pPr indent="-317500" lvl="0" marL="457200" rtl="0" algn="l">
              <a:lnSpc>
                <a:spcPct val="115000"/>
              </a:lnSpc>
              <a:spcBef>
                <a:spcPts val="0"/>
              </a:spcBef>
              <a:spcAft>
                <a:spcPts val="0"/>
              </a:spcAft>
              <a:buSzPts val="1400"/>
              <a:buChar char="●"/>
            </a:pPr>
            <a:r>
              <a:rPr lang="en" sz="1400"/>
              <a:t>Gaining an ability to understand how more advanced visualizations are created</a:t>
            </a:r>
            <a:endParaRPr sz="1400"/>
          </a:p>
          <a:p>
            <a:pPr indent="-304800" lvl="1" marL="914400" rtl="0" algn="l">
              <a:lnSpc>
                <a:spcPct val="115000"/>
              </a:lnSpc>
              <a:spcBef>
                <a:spcPts val="0"/>
              </a:spcBef>
              <a:spcAft>
                <a:spcPts val="0"/>
              </a:spcAft>
              <a:buSzPts val="1200"/>
              <a:buChar char="○"/>
            </a:pPr>
            <a:r>
              <a:rPr lang="en" sz="1200"/>
              <a:t>What technologies do they use?</a:t>
            </a:r>
            <a:endParaRPr sz="1200"/>
          </a:p>
          <a:p>
            <a:pPr indent="-304800" lvl="1" marL="914400" rtl="0" algn="l">
              <a:lnSpc>
                <a:spcPct val="115000"/>
              </a:lnSpc>
              <a:spcBef>
                <a:spcPts val="0"/>
              </a:spcBef>
              <a:spcAft>
                <a:spcPts val="0"/>
              </a:spcAft>
              <a:buSzPts val="1200"/>
              <a:buChar char="○"/>
            </a:pPr>
            <a:r>
              <a:rPr lang="en" sz="1200"/>
              <a:t>How do those fit together?</a:t>
            </a:r>
            <a:endParaRPr sz="1200"/>
          </a:p>
          <a:p>
            <a:pPr indent="-317500" lvl="0" marL="457200" rtl="0" algn="l">
              <a:lnSpc>
                <a:spcPct val="115000"/>
              </a:lnSpc>
              <a:spcBef>
                <a:spcPts val="0"/>
              </a:spcBef>
              <a:spcAft>
                <a:spcPts val="0"/>
              </a:spcAft>
              <a:buSzPts val="1400"/>
              <a:buChar char="●"/>
            </a:pPr>
            <a:r>
              <a:rPr b="1" lang="en" sz="1400"/>
              <a:t>Learning to read documentation, use examples, and leverage all of the above</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Leaflet is a javascript mapping library</a:t>
            </a:r>
            <a:endParaRPr/>
          </a:p>
        </p:txBody>
      </p:sp>
      <p:sp>
        <p:nvSpPr>
          <p:cNvPr id="105" name="Google Shape;105;p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20000"/>
          </a:bodyPr>
          <a:lstStyle/>
          <a:p>
            <a:pPr indent="-336550" lvl="0" marL="457200" rtl="0" algn="l">
              <a:lnSpc>
                <a:spcPct val="115000"/>
              </a:lnSpc>
              <a:spcBef>
                <a:spcPts val="0"/>
              </a:spcBef>
              <a:spcAft>
                <a:spcPts val="0"/>
              </a:spcAft>
              <a:buSzPts val="1700"/>
              <a:buFont typeface="Roboto Slab"/>
              <a:buChar char="●"/>
            </a:pPr>
            <a:r>
              <a:rPr lang="en" sz="1700">
                <a:latin typeface="Roboto Slab"/>
                <a:ea typeface="Roboto Slab"/>
                <a:cs typeface="Roboto Slab"/>
                <a:sym typeface="Roboto Slab"/>
              </a:rPr>
              <a:t>Libraries are pre-written bundles of code</a:t>
            </a:r>
            <a:endParaRPr sz="1700">
              <a:latin typeface="Roboto Slab"/>
              <a:ea typeface="Roboto Slab"/>
              <a:cs typeface="Roboto Slab"/>
              <a:sym typeface="Roboto Slab"/>
            </a:endParaRPr>
          </a:p>
          <a:p>
            <a:pPr indent="-323850" lvl="1" marL="9144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The contain… functions, methods, objects (classes), etc.</a:t>
            </a:r>
            <a:endParaRPr sz="1500">
              <a:latin typeface="Roboto Slab"/>
              <a:ea typeface="Roboto Slab"/>
              <a:cs typeface="Roboto Slab"/>
              <a:sym typeface="Roboto Slab"/>
            </a:endParaRPr>
          </a:p>
          <a:p>
            <a:pPr indent="-323850" lvl="0" marL="4572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Javascript has many built in functions, methods, classes, and so on</a:t>
            </a:r>
            <a:endParaRPr sz="1500">
              <a:latin typeface="Roboto Slab"/>
              <a:ea typeface="Roboto Slab"/>
              <a:cs typeface="Roboto Slab"/>
              <a:sym typeface="Roboto Slab"/>
            </a:endParaRPr>
          </a:p>
          <a:p>
            <a:pPr indent="-323850" lvl="1" marL="9144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But, can’t contain </a:t>
            </a:r>
            <a:r>
              <a:rPr b="1" lang="en" sz="1500">
                <a:latin typeface="Roboto Slab"/>
                <a:ea typeface="Roboto Slab"/>
                <a:cs typeface="Roboto Slab"/>
                <a:sym typeface="Roboto Slab"/>
              </a:rPr>
              <a:t>everything</a:t>
            </a:r>
            <a:r>
              <a:rPr lang="en" sz="1500">
                <a:latin typeface="Roboto Slab"/>
                <a:ea typeface="Roboto Slab"/>
                <a:cs typeface="Roboto Slab"/>
                <a:sym typeface="Roboto Slab"/>
              </a:rPr>
              <a:t> that could be coded…</a:t>
            </a:r>
            <a:br>
              <a:rPr lang="en" sz="1500">
                <a:latin typeface="Roboto Slab"/>
                <a:ea typeface="Roboto Slab"/>
                <a:cs typeface="Roboto Slab"/>
                <a:sym typeface="Roboto Slab"/>
              </a:rPr>
            </a:br>
            <a:endParaRPr sz="1500">
              <a:latin typeface="Roboto Slab"/>
              <a:ea typeface="Roboto Slab"/>
              <a:cs typeface="Roboto Slab"/>
              <a:sym typeface="Roboto Slab"/>
            </a:endParaRPr>
          </a:p>
          <a:p>
            <a:pPr indent="-336550" lvl="0" marL="457200" rtl="0" algn="l">
              <a:lnSpc>
                <a:spcPct val="115000"/>
              </a:lnSpc>
              <a:spcBef>
                <a:spcPts val="0"/>
              </a:spcBef>
              <a:spcAft>
                <a:spcPts val="0"/>
              </a:spcAft>
              <a:buSzPts val="1700"/>
              <a:buFont typeface="Roboto Slab"/>
              <a:buChar char="●"/>
            </a:pPr>
            <a:r>
              <a:rPr lang="en" sz="1700">
                <a:latin typeface="Roboto Slab"/>
                <a:ea typeface="Roboto Slab"/>
                <a:cs typeface="Roboto Slab"/>
                <a:sym typeface="Roboto Slab"/>
              </a:rPr>
              <a:t>Libraries simplify and speed up development</a:t>
            </a:r>
            <a:endParaRPr sz="1700">
              <a:latin typeface="Roboto Slab"/>
              <a:ea typeface="Roboto Slab"/>
              <a:cs typeface="Roboto Slab"/>
              <a:sym typeface="Roboto Slab"/>
            </a:endParaRPr>
          </a:p>
          <a:p>
            <a:pPr indent="-323850" lvl="1" marL="9144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You don’t need to reinvent the wheel every time!</a:t>
            </a:r>
            <a:endParaRPr sz="1500">
              <a:latin typeface="Roboto Slab"/>
              <a:ea typeface="Roboto Slab"/>
              <a:cs typeface="Roboto Slab"/>
              <a:sym typeface="Roboto Slab"/>
            </a:endParaRPr>
          </a:p>
          <a:p>
            <a:pPr indent="-323850" lvl="1" marL="9144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They allow for people to specialize in areas that interest them!</a:t>
            </a:r>
            <a:endParaRPr sz="1500">
              <a:latin typeface="Roboto Slab"/>
              <a:ea typeface="Roboto Slab"/>
              <a:cs typeface="Roboto Slab"/>
              <a:sym typeface="Roboto Slab"/>
            </a:endParaRPr>
          </a:p>
          <a:p>
            <a:pPr indent="-336550" lvl="0" marL="457200" rtl="0" algn="l">
              <a:lnSpc>
                <a:spcPct val="115000"/>
              </a:lnSpc>
              <a:spcBef>
                <a:spcPts val="0"/>
              </a:spcBef>
              <a:spcAft>
                <a:spcPts val="0"/>
              </a:spcAft>
              <a:buSzPts val="1700"/>
              <a:buFont typeface="Roboto Slab"/>
              <a:buChar char="●"/>
            </a:pPr>
            <a:r>
              <a:rPr lang="en" sz="1700">
                <a:latin typeface="Roboto Slab"/>
                <a:ea typeface="Roboto Slab"/>
                <a:cs typeface="Roboto Slab"/>
                <a:sym typeface="Roboto Slab"/>
              </a:rPr>
              <a:t>In many ways, libraries are at the core of open-source development</a:t>
            </a:r>
            <a:endParaRPr sz="1700">
              <a:latin typeface="Roboto Slab"/>
              <a:ea typeface="Roboto Slab"/>
              <a:cs typeface="Roboto Slab"/>
              <a:sym typeface="Roboto Slab"/>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Considerations of map design?</a:t>
            </a:r>
            <a:endParaRPr/>
          </a:p>
          <a:p>
            <a:pPr indent="0" lvl="0" marL="0" rtl="0" algn="l">
              <a:lnSpc>
                <a:spcPct val="100000"/>
              </a:lnSpc>
              <a:spcBef>
                <a:spcPts val="0"/>
              </a:spcBef>
              <a:spcAft>
                <a:spcPts val="0"/>
              </a:spcAft>
              <a:buSzPct val="111111"/>
              <a:buNone/>
            </a:pPr>
            <a:r>
              <a:t/>
            </a:r>
            <a:endParaRPr/>
          </a:p>
        </p:txBody>
      </p:sp>
      <p:pic>
        <p:nvPicPr>
          <p:cNvPr id="111" name="Google Shape;111;p5"/>
          <p:cNvPicPr preferRelativeResize="0"/>
          <p:nvPr/>
        </p:nvPicPr>
        <p:blipFill rotWithShape="1">
          <a:blip r:embed="rId3">
            <a:alphaModFix/>
          </a:blip>
          <a:srcRect b="0" l="0" r="0" t="0"/>
          <a:stretch/>
        </p:blipFill>
        <p:spPr>
          <a:xfrm>
            <a:off x="1873852" y="1853850"/>
            <a:ext cx="4941998" cy="32896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Hamburger Style</a:t>
            </a:r>
            <a:endParaRPr/>
          </a:p>
        </p:txBody>
      </p:sp>
      <p:sp>
        <p:nvSpPr>
          <p:cNvPr id="117" name="Google Shape;117;p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Font typeface="Roboto Slab"/>
              <a:buAutoNum type="arabicPeriod"/>
            </a:pPr>
            <a:r>
              <a:rPr lang="en" sz="2000">
                <a:latin typeface="Roboto Slab"/>
                <a:ea typeface="Roboto Slab"/>
                <a:cs typeface="Roboto Slab"/>
                <a:sym typeface="Roboto Slab"/>
              </a:rPr>
              <a:t>Base Map</a:t>
            </a:r>
            <a:endParaRPr sz="2000">
              <a:latin typeface="Roboto Slab"/>
              <a:ea typeface="Roboto Slab"/>
              <a:cs typeface="Roboto Slab"/>
              <a:sym typeface="Roboto Slab"/>
            </a:endParaRPr>
          </a:p>
          <a:p>
            <a:pPr indent="-355600" lvl="0" marL="457200" rtl="0" algn="l">
              <a:lnSpc>
                <a:spcPct val="115000"/>
              </a:lnSpc>
              <a:spcBef>
                <a:spcPts val="0"/>
              </a:spcBef>
              <a:spcAft>
                <a:spcPts val="0"/>
              </a:spcAft>
              <a:buSzPts val="2000"/>
              <a:buFont typeface="Roboto Slab"/>
              <a:buAutoNum type="arabicPeriod"/>
            </a:pPr>
            <a:r>
              <a:rPr lang="en" sz="2000">
                <a:latin typeface="Roboto Slab"/>
                <a:ea typeface="Roboto Slab"/>
                <a:cs typeface="Roboto Slab"/>
                <a:sym typeface="Roboto Slab"/>
              </a:rPr>
              <a:t>Data Layers</a:t>
            </a:r>
            <a:endParaRPr sz="2000">
              <a:latin typeface="Roboto Slab"/>
              <a:ea typeface="Roboto Slab"/>
              <a:cs typeface="Roboto Slab"/>
              <a:sym typeface="Roboto Slab"/>
            </a:endParaRPr>
          </a:p>
          <a:p>
            <a:pPr indent="-355600" lvl="0" marL="457200" rtl="0" algn="l">
              <a:lnSpc>
                <a:spcPct val="115000"/>
              </a:lnSpc>
              <a:spcBef>
                <a:spcPts val="0"/>
              </a:spcBef>
              <a:spcAft>
                <a:spcPts val="0"/>
              </a:spcAft>
              <a:buSzPts val="2000"/>
              <a:buFont typeface="Roboto Slab"/>
              <a:buAutoNum type="arabicPeriod"/>
            </a:pPr>
            <a:r>
              <a:rPr lang="en" sz="2000">
                <a:latin typeface="Roboto Slab"/>
                <a:ea typeface="Roboto Slab"/>
                <a:cs typeface="Roboto Slab"/>
                <a:sym typeface="Roboto Slab"/>
              </a:rPr>
              <a:t>Interactivity</a:t>
            </a:r>
            <a:endParaRPr sz="2000">
              <a:latin typeface="Roboto Slab"/>
              <a:ea typeface="Roboto Slab"/>
              <a:cs typeface="Roboto Slab"/>
              <a:sym typeface="Roboto Slab"/>
            </a:endParaRPr>
          </a:p>
          <a:p>
            <a:pPr indent="0" lvl="0" marL="0" rtl="0" algn="l">
              <a:lnSpc>
                <a:spcPct val="115000"/>
              </a:lnSpc>
              <a:spcBef>
                <a:spcPts val="1200"/>
              </a:spcBef>
              <a:spcAft>
                <a:spcPts val="0"/>
              </a:spcAft>
              <a:buSzPts val="1300"/>
              <a:buNone/>
            </a:pPr>
            <a:r>
              <a:t/>
            </a:r>
            <a:endParaRPr sz="2000">
              <a:latin typeface="Roboto Slab"/>
              <a:ea typeface="Roboto Slab"/>
              <a:cs typeface="Roboto Slab"/>
              <a:sym typeface="Roboto Slab"/>
            </a:endParaRPr>
          </a:p>
          <a:p>
            <a:pPr indent="0" lvl="0" marL="0" rtl="0" algn="l">
              <a:lnSpc>
                <a:spcPct val="115000"/>
              </a:lnSpc>
              <a:spcBef>
                <a:spcPts val="1200"/>
              </a:spcBef>
              <a:spcAft>
                <a:spcPts val="1200"/>
              </a:spcAft>
              <a:buSzPts val="1300"/>
              <a:buNone/>
            </a:pPr>
            <a:r>
              <a:rPr lang="en" sz="2000">
                <a:latin typeface="Roboto Slab"/>
                <a:ea typeface="Roboto Slab"/>
                <a:cs typeface="Roboto Slab"/>
                <a:sym typeface="Roboto Slab"/>
              </a:rPr>
              <a:t>Does a web map need all three? </a:t>
            </a:r>
            <a:endParaRPr sz="2000">
              <a:latin typeface="Roboto Slab"/>
              <a:ea typeface="Roboto Slab"/>
              <a:cs typeface="Roboto Slab"/>
              <a:sym typeface="Roboto Slab"/>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20000"/>
          </a:bodyPr>
          <a:lstStyle/>
          <a:p>
            <a:pPr indent="-330200" lvl="0" marL="457200" rtl="0" algn="l">
              <a:lnSpc>
                <a:spcPct val="115000"/>
              </a:lnSpc>
              <a:spcBef>
                <a:spcPts val="0"/>
              </a:spcBef>
              <a:spcAft>
                <a:spcPts val="0"/>
              </a:spcAft>
              <a:buSzPts val="1600"/>
              <a:buFont typeface="Roboto Slab"/>
              <a:buChar char="●"/>
            </a:pPr>
            <a:r>
              <a:rPr lang="en" sz="1600">
                <a:latin typeface="Roboto Slab"/>
                <a:ea typeface="Roboto Slab"/>
                <a:cs typeface="Roboto Slab"/>
                <a:sym typeface="Roboto Slab"/>
              </a:rPr>
              <a:t>A map on the web isn’t necessarily a web map?</a:t>
            </a:r>
            <a:endParaRPr sz="1600">
              <a:latin typeface="Roboto Slab"/>
              <a:ea typeface="Roboto Slab"/>
              <a:cs typeface="Roboto Slab"/>
              <a:sym typeface="Roboto Slab"/>
            </a:endParaRPr>
          </a:p>
          <a:p>
            <a:pPr indent="-330200" lvl="0" marL="457200" rtl="0" algn="l">
              <a:lnSpc>
                <a:spcPct val="115000"/>
              </a:lnSpc>
              <a:spcBef>
                <a:spcPts val="0"/>
              </a:spcBef>
              <a:spcAft>
                <a:spcPts val="0"/>
              </a:spcAft>
              <a:buSzPts val="1600"/>
              <a:buFont typeface="Roboto Slab"/>
              <a:buChar char="●"/>
            </a:pPr>
            <a:r>
              <a:rPr lang="en" sz="1600">
                <a:latin typeface="Roboto Slab"/>
                <a:ea typeface="Roboto Slab"/>
                <a:cs typeface="Roboto Slab"/>
                <a:sym typeface="Roboto Slab"/>
              </a:rPr>
              <a:t>Hamburger cartography isn’t necessary for a web map?</a:t>
            </a:r>
            <a:endParaRPr sz="1600">
              <a:latin typeface="Roboto Slab"/>
              <a:ea typeface="Roboto Slab"/>
              <a:cs typeface="Roboto Slab"/>
              <a:sym typeface="Roboto Slab"/>
            </a:endParaRPr>
          </a:p>
          <a:p>
            <a:pPr indent="-330200" lvl="0" marL="457200" rtl="0" algn="l">
              <a:lnSpc>
                <a:spcPct val="115000"/>
              </a:lnSpc>
              <a:spcBef>
                <a:spcPts val="0"/>
              </a:spcBef>
              <a:spcAft>
                <a:spcPts val="0"/>
              </a:spcAft>
              <a:buSzPts val="1600"/>
              <a:buFont typeface="Roboto Slab"/>
              <a:buChar char="●"/>
            </a:pPr>
            <a:r>
              <a:rPr lang="en" sz="1600">
                <a:latin typeface="Roboto Slab"/>
                <a:ea typeface="Roboto Slab"/>
                <a:cs typeface="Roboto Slab"/>
                <a:sym typeface="Roboto Slab"/>
              </a:rPr>
              <a:t>Interactivity isn’t necessary for a web map?</a:t>
            </a:r>
            <a:endParaRPr sz="1600">
              <a:latin typeface="Roboto Slab"/>
              <a:ea typeface="Roboto Slab"/>
              <a:cs typeface="Roboto Slab"/>
              <a:sym typeface="Roboto Slab"/>
            </a:endParaRPr>
          </a:p>
          <a:p>
            <a:pPr indent="0" lvl="0" marL="0" rtl="0" algn="l">
              <a:lnSpc>
                <a:spcPct val="115000"/>
              </a:lnSpc>
              <a:spcBef>
                <a:spcPts val="1200"/>
              </a:spcBef>
              <a:spcAft>
                <a:spcPts val="0"/>
              </a:spcAft>
              <a:buSzPts val="1300"/>
              <a:buNone/>
            </a:pPr>
            <a:r>
              <a:t/>
            </a:r>
            <a:endParaRPr sz="1600">
              <a:latin typeface="Roboto Slab"/>
              <a:ea typeface="Roboto Slab"/>
              <a:cs typeface="Roboto Slab"/>
              <a:sym typeface="Roboto Slab"/>
            </a:endParaRPr>
          </a:p>
          <a:p>
            <a:pPr indent="-330200" lvl="0" marL="457200" rtl="0" algn="l">
              <a:lnSpc>
                <a:spcPct val="115000"/>
              </a:lnSpc>
              <a:spcBef>
                <a:spcPts val="1200"/>
              </a:spcBef>
              <a:spcAft>
                <a:spcPts val="0"/>
              </a:spcAft>
              <a:buSzPts val="1600"/>
              <a:buFont typeface="Roboto Slab"/>
              <a:buChar char="●"/>
            </a:pPr>
            <a:r>
              <a:rPr lang="en" sz="1600">
                <a:latin typeface="Roboto Slab"/>
                <a:ea typeface="Roboto Slab"/>
                <a:cs typeface="Roboto Slab"/>
                <a:sym typeface="Roboto Slab"/>
              </a:rPr>
              <a:t>No, so what did we learn?</a:t>
            </a:r>
            <a:endParaRPr sz="1600">
              <a:latin typeface="Roboto Slab"/>
              <a:ea typeface="Roboto Slab"/>
              <a:cs typeface="Roboto Slab"/>
              <a:sym typeface="Roboto Slab"/>
            </a:endParaRPr>
          </a:p>
          <a:p>
            <a:pPr indent="-330200" lvl="1" marL="914400" rtl="0" algn="l">
              <a:lnSpc>
                <a:spcPct val="115000"/>
              </a:lnSpc>
              <a:spcBef>
                <a:spcPts val="0"/>
              </a:spcBef>
              <a:spcAft>
                <a:spcPts val="0"/>
              </a:spcAft>
              <a:buSzPts val="1600"/>
              <a:buFont typeface="Roboto Slab"/>
              <a:buChar char="○"/>
            </a:pPr>
            <a:r>
              <a:rPr lang="en" sz="1600">
                <a:latin typeface="Roboto Slab"/>
                <a:ea typeface="Roboto Slab"/>
                <a:cs typeface="Roboto Slab"/>
                <a:sym typeface="Roboto Slab"/>
              </a:rPr>
              <a:t>You can look up definitions, there are many; but, you can find exceptions to each.</a:t>
            </a:r>
            <a:endParaRPr sz="1600">
              <a:latin typeface="Roboto Slab"/>
              <a:ea typeface="Roboto Slab"/>
              <a:cs typeface="Roboto Slab"/>
              <a:sym typeface="Roboto Slab"/>
            </a:endParaRPr>
          </a:p>
        </p:txBody>
      </p:sp>
      <p:sp>
        <p:nvSpPr>
          <p:cNvPr id="123" name="Google Shape;123;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did we learn?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Final Projects</a:t>
            </a:r>
            <a:endParaRPr/>
          </a:p>
        </p:txBody>
      </p:sp>
      <p:sp>
        <p:nvSpPr>
          <p:cNvPr id="129" name="Google Shape;129;p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Font typeface="Roboto Slab"/>
              <a:buChar char="●"/>
            </a:pPr>
            <a:r>
              <a:rPr lang="en">
                <a:latin typeface="Roboto Slab"/>
                <a:ea typeface="Roboto Slab"/>
                <a:cs typeface="Roboto Slab"/>
                <a:sym typeface="Roboto Slab"/>
              </a:rPr>
              <a:t>20 or 30 points </a:t>
            </a:r>
            <a:endParaRPr>
              <a:latin typeface="Roboto Slab"/>
              <a:ea typeface="Roboto Slab"/>
              <a:cs typeface="Roboto Slab"/>
              <a:sym typeface="Roboto Slab"/>
            </a:endParaRPr>
          </a:p>
          <a:p>
            <a:pPr indent="-298450" lvl="1" marL="914400" rtl="0" algn="l">
              <a:lnSpc>
                <a:spcPct val="115000"/>
              </a:lnSpc>
              <a:spcBef>
                <a:spcPts val="0"/>
              </a:spcBef>
              <a:spcAft>
                <a:spcPts val="0"/>
              </a:spcAft>
              <a:buSzPts val="1100"/>
              <a:buFont typeface="Roboto Slab"/>
              <a:buChar char="○"/>
            </a:pPr>
            <a:r>
              <a:rPr lang="en">
                <a:latin typeface="Roboto Slab"/>
                <a:ea typeface="Roboto Slab"/>
                <a:cs typeface="Roboto Slab"/>
                <a:sym typeface="Roboto Slab"/>
              </a:rPr>
              <a:t>2 points for proposal</a:t>
            </a:r>
            <a:endParaRPr>
              <a:latin typeface="Roboto Slab"/>
              <a:ea typeface="Roboto Slab"/>
              <a:cs typeface="Roboto Slab"/>
              <a:sym typeface="Roboto Slab"/>
            </a:endParaRPr>
          </a:p>
          <a:p>
            <a:pPr indent="-298450" lvl="1" marL="914400" rtl="0" algn="l">
              <a:lnSpc>
                <a:spcPct val="115000"/>
              </a:lnSpc>
              <a:spcBef>
                <a:spcPts val="0"/>
              </a:spcBef>
              <a:spcAft>
                <a:spcPts val="0"/>
              </a:spcAft>
              <a:buSzPts val="1100"/>
              <a:buFont typeface="Roboto Slab"/>
              <a:buChar char="○"/>
            </a:pPr>
            <a:r>
              <a:rPr lang="en">
                <a:latin typeface="Roboto Slab"/>
                <a:ea typeface="Roboto Slab"/>
                <a:cs typeface="Roboto Slab"/>
                <a:sym typeface="Roboto Slab"/>
              </a:rPr>
              <a:t>6 (472) or 12 (572) points for the write up</a:t>
            </a:r>
            <a:endParaRPr>
              <a:latin typeface="Roboto Slab"/>
              <a:ea typeface="Roboto Slab"/>
              <a:cs typeface="Roboto Slab"/>
              <a:sym typeface="Roboto Slab"/>
            </a:endParaRPr>
          </a:p>
          <a:p>
            <a:pPr indent="-298450" lvl="1" marL="914400" rtl="0" algn="l">
              <a:lnSpc>
                <a:spcPct val="115000"/>
              </a:lnSpc>
              <a:spcBef>
                <a:spcPts val="0"/>
              </a:spcBef>
              <a:spcAft>
                <a:spcPts val="0"/>
              </a:spcAft>
              <a:buSzPts val="1100"/>
              <a:buFont typeface="Roboto Slab"/>
              <a:buChar char="○"/>
            </a:pPr>
            <a:r>
              <a:rPr lang="en">
                <a:latin typeface="Roboto Slab"/>
                <a:ea typeface="Roboto Slab"/>
                <a:cs typeface="Roboto Slab"/>
                <a:sym typeface="Roboto Slab"/>
              </a:rPr>
              <a:t>12 (472) or 16 (572) points for the visualization</a:t>
            </a:r>
            <a:endParaRPr>
              <a:latin typeface="Roboto Slab"/>
              <a:ea typeface="Roboto Slab"/>
              <a:cs typeface="Roboto Slab"/>
              <a:sym typeface="Roboto Slab"/>
            </a:endParaRPr>
          </a:p>
          <a:p>
            <a:pPr indent="-311150" lvl="0" marL="457200" rtl="0" algn="l">
              <a:lnSpc>
                <a:spcPct val="115000"/>
              </a:lnSpc>
              <a:spcBef>
                <a:spcPts val="0"/>
              </a:spcBef>
              <a:spcAft>
                <a:spcPts val="0"/>
              </a:spcAft>
              <a:buSzPts val="1300"/>
              <a:buFont typeface="Roboto Slab"/>
              <a:buChar char="●"/>
            </a:pPr>
            <a:r>
              <a:rPr lang="en">
                <a:latin typeface="Roboto Slab"/>
                <a:ea typeface="Roboto Slab"/>
                <a:cs typeface="Roboto Slab"/>
                <a:sym typeface="Roboto Slab"/>
              </a:rPr>
              <a:t>Topic Proposal due Friday, February 16th</a:t>
            </a:r>
            <a:endParaRPr>
              <a:latin typeface="Roboto Slab"/>
              <a:ea typeface="Roboto Slab"/>
              <a:cs typeface="Roboto Slab"/>
              <a:sym typeface="Roboto Slab"/>
            </a:endParaRPr>
          </a:p>
          <a:p>
            <a:pPr indent="-298450" lvl="1" marL="914400" rtl="0" algn="l">
              <a:lnSpc>
                <a:spcPct val="115000"/>
              </a:lnSpc>
              <a:spcBef>
                <a:spcPts val="0"/>
              </a:spcBef>
              <a:spcAft>
                <a:spcPts val="0"/>
              </a:spcAft>
              <a:buSzPts val="1100"/>
              <a:buFont typeface="Roboto Slab"/>
              <a:buChar char="○"/>
            </a:pPr>
            <a:r>
              <a:rPr lang="en">
                <a:latin typeface="Roboto Slab"/>
                <a:ea typeface="Roboto Slab"/>
                <a:cs typeface="Roboto Slab"/>
                <a:sym typeface="Roboto Slab"/>
              </a:rPr>
              <a:t>On canvas</a:t>
            </a:r>
            <a:endParaRPr>
              <a:latin typeface="Roboto Slab"/>
              <a:ea typeface="Roboto Slab"/>
              <a:cs typeface="Roboto Slab"/>
              <a:sym typeface="Roboto Slab"/>
            </a:endParaRPr>
          </a:p>
          <a:p>
            <a:pPr indent="-311150" lvl="0" marL="457200" rtl="0" algn="l">
              <a:lnSpc>
                <a:spcPct val="115000"/>
              </a:lnSpc>
              <a:spcBef>
                <a:spcPts val="0"/>
              </a:spcBef>
              <a:spcAft>
                <a:spcPts val="0"/>
              </a:spcAft>
              <a:buSzPts val="1300"/>
              <a:buFont typeface="Roboto Slab"/>
              <a:buChar char="●"/>
            </a:pPr>
            <a:r>
              <a:rPr lang="en">
                <a:latin typeface="Roboto Slab"/>
                <a:ea typeface="Roboto Slab"/>
                <a:cs typeface="Roboto Slab"/>
                <a:sym typeface="Roboto Slab"/>
              </a:rPr>
              <a:t>Project due Friday, March 18th by 11:59pm</a:t>
            </a:r>
            <a:endParaRPr>
              <a:latin typeface="Roboto Slab"/>
              <a:ea typeface="Roboto Slab"/>
              <a:cs typeface="Roboto Slab"/>
              <a:sym typeface="Roboto Slab"/>
            </a:endParaRPr>
          </a:p>
          <a:p>
            <a:pPr indent="-298450" lvl="1" marL="914400" rtl="0" algn="l">
              <a:lnSpc>
                <a:spcPct val="115000"/>
              </a:lnSpc>
              <a:spcBef>
                <a:spcPts val="0"/>
              </a:spcBef>
              <a:spcAft>
                <a:spcPts val="0"/>
              </a:spcAft>
              <a:buSzPts val="1100"/>
              <a:buFont typeface="Roboto Slab"/>
              <a:buChar char="○"/>
            </a:pPr>
            <a:r>
              <a:rPr lang="en">
                <a:latin typeface="Roboto Slab"/>
                <a:ea typeface="Roboto Slab"/>
                <a:cs typeface="Roboto Slab"/>
                <a:sym typeface="Roboto Slab"/>
              </a:rPr>
              <a:t>Write up on canvas</a:t>
            </a:r>
            <a:endParaRPr>
              <a:latin typeface="Roboto Slab"/>
              <a:ea typeface="Roboto Slab"/>
              <a:cs typeface="Roboto Slab"/>
              <a:sym typeface="Roboto Slab"/>
            </a:endParaRPr>
          </a:p>
          <a:p>
            <a:pPr indent="-298450" lvl="1" marL="914400" rtl="0" algn="l">
              <a:lnSpc>
                <a:spcPct val="115000"/>
              </a:lnSpc>
              <a:spcBef>
                <a:spcPts val="0"/>
              </a:spcBef>
              <a:spcAft>
                <a:spcPts val="0"/>
              </a:spcAft>
              <a:buSzPts val="1100"/>
              <a:buFont typeface="Roboto Slab"/>
              <a:buChar char="○"/>
            </a:pPr>
            <a:r>
              <a:rPr lang="en">
                <a:latin typeface="Roboto Slab"/>
                <a:ea typeface="Roboto Slab"/>
                <a:cs typeface="Roboto Slab"/>
                <a:sym typeface="Roboto Slab"/>
              </a:rPr>
              <a:t>Other elements through github, canvas, etc. (as appropriate for individual projects)</a:t>
            </a:r>
            <a:endParaRPr>
              <a:latin typeface="Roboto Slab"/>
              <a:ea typeface="Roboto Slab"/>
              <a:cs typeface="Roboto Slab"/>
              <a:sym typeface="Roboto Slab"/>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Final Projects - Topic Proposal</a:t>
            </a:r>
            <a:endParaRPr/>
          </a:p>
        </p:txBody>
      </p:sp>
      <p:sp>
        <p:nvSpPr>
          <p:cNvPr id="135" name="Google Shape;135;p9"/>
          <p:cNvSpPr txBox="1"/>
          <p:nvPr>
            <p:ph idx="1" type="body"/>
          </p:nvPr>
        </p:nvSpPr>
        <p:spPr>
          <a:xfrm>
            <a:off x="729450" y="2078875"/>
            <a:ext cx="7688700" cy="29307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Roboto Slab"/>
              <a:buChar char="●"/>
            </a:pPr>
            <a:r>
              <a:rPr lang="en" sz="1600">
                <a:latin typeface="Roboto Slab"/>
                <a:ea typeface="Roboto Slab"/>
                <a:cs typeface="Roboto Slab"/>
                <a:sym typeface="Roboto Slab"/>
              </a:rPr>
              <a:t>3-5 sentences (a paragraph) describing what you are going to do.</a:t>
            </a:r>
            <a:endParaRPr sz="1600">
              <a:latin typeface="Roboto Slab"/>
              <a:ea typeface="Roboto Slab"/>
              <a:cs typeface="Roboto Slab"/>
              <a:sym typeface="Roboto Slab"/>
            </a:endParaRPr>
          </a:p>
          <a:p>
            <a:pPr indent="-330200" lvl="0" marL="457200" rtl="0" algn="l">
              <a:lnSpc>
                <a:spcPct val="115000"/>
              </a:lnSpc>
              <a:spcBef>
                <a:spcPts val="0"/>
              </a:spcBef>
              <a:spcAft>
                <a:spcPts val="0"/>
              </a:spcAft>
              <a:buSzPts val="1600"/>
              <a:buFont typeface="Roboto Slab"/>
              <a:buChar char="●"/>
            </a:pPr>
            <a:r>
              <a:rPr lang="en" sz="1600">
                <a:latin typeface="Roboto Slab"/>
                <a:ea typeface="Roboto Slab"/>
                <a:cs typeface="Roboto Slab"/>
                <a:sym typeface="Roboto Slab"/>
              </a:rPr>
              <a:t>Must include:</a:t>
            </a:r>
            <a:endParaRPr sz="1600">
              <a:latin typeface="Roboto Slab"/>
              <a:ea typeface="Roboto Slab"/>
              <a:cs typeface="Roboto Slab"/>
              <a:sym typeface="Roboto Slab"/>
            </a:endParaRPr>
          </a:p>
          <a:p>
            <a:pPr indent="-317500" lvl="1" marL="9144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A description of what will be produced (1-2 sentences)</a:t>
            </a:r>
            <a:endParaRPr sz="1400">
              <a:latin typeface="Roboto Slab"/>
              <a:ea typeface="Roboto Slab"/>
              <a:cs typeface="Roboto Slab"/>
              <a:sym typeface="Roboto Slab"/>
            </a:endParaRPr>
          </a:p>
          <a:p>
            <a:pPr indent="-317500" lvl="2" marL="13716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“My project will create a leaflet web visualization that…”</a:t>
            </a:r>
            <a:endParaRPr sz="1400">
              <a:latin typeface="Roboto Slab"/>
              <a:ea typeface="Roboto Slab"/>
              <a:cs typeface="Roboto Slab"/>
              <a:sym typeface="Roboto Slab"/>
            </a:endParaRPr>
          </a:p>
          <a:p>
            <a:pPr indent="-317500" lvl="2" marL="13716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“My project will create an interactive tool that…”</a:t>
            </a:r>
            <a:endParaRPr sz="1400">
              <a:latin typeface="Roboto Slab"/>
              <a:ea typeface="Roboto Slab"/>
              <a:cs typeface="Roboto Slab"/>
              <a:sym typeface="Roboto Slab"/>
            </a:endParaRPr>
          </a:p>
          <a:p>
            <a:pPr indent="-317500" lvl="1" marL="9144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The expected technologies/tools you will use (1-2 sentence)</a:t>
            </a:r>
            <a:endParaRPr sz="1400">
              <a:latin typeface="Roboto Slab"/>
              <a:ea typeface="Roboto Slab"/>
              <a:cs typeface="Roboto Slab"/>
              <a:sym typeface="Roboto Slab"/>
            </a:endParaRPr>
          </a:p>
          <a:p>
            <a:pPr indent="-317500" lvl="2" marL="13716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“I will make use of leaflet, cesium, and p5.js to…”</a:t>
            </a:r>
            <a:endParaRPr sz="1400">
              <a:latin typeface="Roboto Slab"/>
              <a:ea typeface="Roboto Slab"/>
              <a:cs typeface="Roboto Slab"/>
              <a:sym typeface="Roboto Slab"/>
            </a:endParaRPr>
          </a:p>
          <a:p>
            <a:pPr indent="-317500" lvl="2" marL="13716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Do not include things like “javascript” and “css” - those are assumed.</a:t>
            </a:r>
            <a:endParaRPr sz="1400">
              <a:latin typeface="Roboto Slab"/>
              <a:ea typeface="Roboto Slab"/>
              <a:cs typeface="Roboto Slab"/>
              <a:sym typeface="Roboto Slab"/>
            </a:endParaRPr>
          </a:p>
          <a:p>
            <a:pPr indent="-317500" lvl="1" marL="9144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Some expected sources of data (1-2 sentences)</a:t>
            </a:r>
            <a:endParaRPr sz="1400">
              <a:latin typeface="Roboto Slab"/>
              <a:ea typeface="Roboto Slab"/>
              <a:cs typeface="Roboto Slab"/>
              <a:sym typeface="Roboto Slab"/>
            </a:endParaRPr>
          </a:p>
          <a:p>
            <a:pPr indent="-317500" lvl="2" marL="13716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“I will make use of OpenStreetMap and USGS data…”</a:t>
            </a:r>
            <a:endParaRPr sz="1400">
              <a:latin typeface="Roboto Slab"/>
              <a:ea typeface="Roboto Slab"/>
              <a:cs typeface="Roboto Slab"/>
              <a:sym typeface="Roboto Slab"/>
            </a:endParaRPr>
          </a:p>
          <a:p>
            <a:pPr indent="-330200" lvl="0" marL="457200" rtl="0" algn="l">
              <a:lnSpc>
                <a:spcPct val="115000"/>
              </a:lnSpc>
              <a:spcBef>
                <a:spcPts val="0"/>
              </a:spcBef>
              <a:spcAft>
                <a:spcPts val="0"/>
              </a:spcAft>
              <a:buSzPts val="1600"/>
              <a:buFont typeface="Roboto Slab"/>
              <a:buChar char="●"/>
            </a:pPr>
            <a:r>
              <a:rPr b="1" lang="en" sz="1600">
                <a:latin typeface="Roboto Slab"/>
                <a:ea typeface="Roboto Slab"/>
                <a:cs typeface="Roboto Slab"/>
                <a:sym typeface="Roboto Slab"/>
              </a:rPr>
              <a:t>Due February 16th at 5pm on canvas</a:t>
            </a:r>
            <a:endParaRPr sz="1600">
              <a:latin typeface="Roboto Slab"/>
              <a:ea typeface="Roboto Slab"/>
              <a:cs typeface="Roboto Slab"/>
              <a:sym typeface="Roboto Slab"/>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Final Projects - Visualization</a:t>
            </a:r>
            <a:endParaRPr/>
          </a:p>
        </p:txBody>
      </p:sp>
      <p:sp>
        <p:nvSpPr>
          <p:cNvPr id="141" name="Google Shape;141;p10"/>
          <p:cNvSpPr txBox="1"/>
          <p:nvPr>
            <p:ph idx="1" type="body"/>
          </p:nvPr>
        </p:nvSpPr>
        <p:spPr>
          <a:xfrm>
            <a:off x="729450" y="2078875"/>
            <a:ext cx="7688700" cy="29307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Make something using the tools and techniques introduced in this class and that you’ve discovered on your own</a:t>
            </a:r>
            <a:endParaRPr sz="1500">
              <a:latin typeface="Roboto Slab"/>
              <a:ea typeface="Roboto Slab"/>
              <a:cs typeface="Roboto Slab"/>
              <a:sym typeface="Roboto Slab"/>
            </a:endParaRPr>
          </a:p>
          <a:p>
            <a:pPr indent="-323850" lvl="0" marL="4572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Be creative and push yourself</a:t>
            </a:r>
            <a:endParaRPr sz="1500">
              <a:latin typeface="Roboto Slab"/>
              <a:ea typeface="Roboto Slab"/>
              <a:cs typeface="Roboto Slab"/>
              <a:sym typeface="Roboto Slab"/>
            </a:endParaRPr>
          </a:p>
          <a:p>
            <a:pPr indent="-323850" lvl="0" marL="4572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It must be:</a:t>
            </a:r>
            <a:endParaRPr sz="1500">
              <a:latin typeface="Roboto Slab"/>
              <a:ea typeface="Roboto Slab"/>
              <a:cs typeface="Roboto Slab"/>
              <a:sym typeface="Roboto Slab"/>
            </a:endParaRPr>
          </a:p>
          <a:p>
            <a:pPr indent="-323850" lvl="1" marL="9144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Fully functional and hosted independently</a:t>
            </a:r>
            <a:endParaRPr sz="1500">
              <a:latin typeface="Roboto Slab"/>
              <a:ea typeface="Roboto Slab"/>
              <a:cs typeface="Roboto Slab"/>
              <a:sym typeface="Roboto Slab"/>
            </a:endParaRPr>
          </a:p>
          <a:p>
            <a:pPr indent="-323850" lvl="2" marL="13716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In other words, use github.io (or another source) to create a web page I can load from an internet connection (if there are specific reasons this is impossible, we can discuss)</a:t>
            </a:r>
            <a:endParaRPr sz="1500">
              <a:latin typeface="Roboto Slab"/>
              <a:ea typeface="Roboto Slab"/>
              <a:cs typeface="Roboto Slab"/>
              <a:sym typeface="Roboto Slab"/>
            </a:endParaRPr>
          </a:p>
          <a:p>
            <a:pPr indent="-323850" lvl="1" marL="9144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Involve </a:t>
            </a:r>
            <a:r>
              <a:rPr b="1" lang="en" sz="1500">
                <a:latin typeface="Roboto Slab"/>
                <a:ea typeface="Roboto Slab"/>
                <a:cs typeface="Roboto Slab"/>
                <a:sym typeface="Roboto Slab"/>
              </a:rPr>
              <a:t>at least one</a:t>
            </a:r>
            <a:r>
              <a:rPr lang="en" sz="1500">
                <a:latin typeface="Roboto Slab"/>
                <a:ea typeface="Roboto Slab"/>
                <a:cs typeface="Roboto Slab"/>
                <a:sym typeface="Roboto Slab"/>
              </a:rPr>
              <a:t> geospatial visualization (‘web map’)</a:t>
            </a:r>
            <a:endParaRPr sz="1500">
              <a:latin typeface="Roboto Slab"/>
              <a:ea typeface="Roboto Slab"/>
              <a:cs typeface="Roboto Slab"/>
              <a:sym typeface="Roboto Slab"/>
            </a:endParaRPr>
          </a:p>
          <a:p>
            <a:pPr indent="-323850" lvl="0" marL="457200" rtl="0" algn="l">
              <a:lnSpc>
                <a:spcPct val="115000"/>
              </a:lnSpc>
              <a:spcBef>
                <a:spcPts val="0"/>
              </a:spcBef>
              <a:spcAft>
                <a:spcPts val="0"/>
              </a:spcAft>
              <a:buSzPts val="1500"/>
              <a:buFont typeface="Roboto Slab"/>
              <a:buChar char="●"/>
            </a:pPr>
            <a:r>
              <a:rPr b="1" lang="en" sz="1500">
                <a:latin typeface="Roboto Slab"/>
                <a:ea typeface="Roboto Slab"/>
                <a:cs typeface="Roboto Slab"/>
                <a:sym typeface="Roboto Slab"/>
              </a:rPr>
              <a:t>This is not an opportunity to put points on a leaflet map and call it a day.</a:t>
            </a:r>
            <a:endParaRPr b="1" sz="1500">
              <a:latin typeface="Roboto Slab"/>
              <a:ea typeface="Roboto Slab"/>
              <a:cs typeface="Roboto Slab"/>
              <a:sym typeface="Roboto Slab"/>
            </a:endParaRPr>
          </a:p>
          <a:p>
            <a:pPr indent="-323850" lvl="1" marL="9144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If you’re having trouble, </a:t>
            </a:r>
            <a:r>
              <a:rPr b="1" i="1" lang="en" sz="1500">
                <a:latin typeface="Roboto Slab"/>
                <a:ea typeface="Roboto Slab"/>
                <a:cs typeface="Roboto Slab"/>
                <a:sym typeface="Roboto Slab"/>
              </a:rPr>
              <a:t>come talk to me!</a:t>
            </a:r>
            <a:endParaRPr sz="1500">
              <a:latin typeface="Roboto Slab"/>
              <a:ea typeface="Roboto Slab"/>
              <a:cs typeface="Roboto Slab"/>
              <a:sym typeface="Roboto Slab"/>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Final Projects - Written Portion</a:t>
            </a:r>
            <a:endParaRPr/>
          </a:p>
        </p:txBody>
      </p:sp>
      <p:sp>
        <p:nvSpPr>
          <p:cNvPr id="147" name="Google Shape;147;p11"/>
          <p:cNvSpPr txBox="1"/>
          <p:nvPr>
            <p:ph idx="1" type="body"/>
          </p:nvPr>
        </p:nvSpPr>
        <p:spPr>
          <a:xfrm>
            <a:off x="729450" y="2078875"/>
            <a:ext cx="7688700" cy="29307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472: 500-1k words; 572: 1k-2k words.</a:t>
            </a:r>
            <a:endParaRPr sz="1500">
              <a:latin typeface="Roboto Slab"/>
              <a:ea typeface="Roboto Slab"/>
              <a:cs typeface="Roboto Slab"/>
              <a:sym typeface="Roboto Slab"/>
            </a:endParaRPr>
          </a:p>
          <a:p>
            <a:pPr indent="-323850" lvl="0" marL="4572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A recounting of what you did, why, what did and didn’t work, and what you learned.</a:t>
            </a:r>
            <a:endParaRPr sz="1500">
              <a:latin typeface="Roboto Slab"/>
              <a:ea typeface="Roboto Slab"/>
              <a:cs typeface="Roboto Slab"/>
              <a:sym typeface="Roboto Slab"/>
            </a:endParaRPr>
          </a:p>
          <a:p>
            <a:pPr indent="-323850" lvl="0" marL="457200" rtl="0" algn="l">
              <a:lnSpc>
                <a:spcPct val="115000"/>
              </a:lnSpc>
              <a:spcBef>
                <a:spcPts val="0"/>
              </a:spcBef>
              <a:spcAft>
                <a:spcPts val="0"/>
              </a:spcAft>
              <a:buSzPts val="1500"/>
              <a:buFont typeface="Roboto Slab"/>
              <a:buChar char="●"/>
            </a:pPr>
            <a:r>
              <a:rPr lang="en" sz="1500">
                <a:latin typeface="Roboto Slab"/>
                <a:ea typeface="Roboto Slab"/>
                <a:cs typeface="Roboto Slab"/>
                <a:sym typeface="Roboto Slab"/>
              </a:rPr>
              <a:t>An outline might look like this (you need not follow it):</a:t>
            </a:r>
            <a:endParaRPr sz="1500">
              <a:latin typeface="Roboto Slab"/>
              <a:ea typeface="Roboto Slab"/>
              <a:cs typeface="Roboto Slab"/>
              <a:sym typeface="Roboto Slab"/>
            </a:endParaRPr>
          </a:p>
          <a:p>
            <a:pPr indent="-311150" lvl="1" marL="914400" rtl="0" algn="l">
              <a:lnSpc>
                <a:spcPct val="115000"/>
              </a:lnSpc>
              <a:spcBef>
                <a:spcPts val="0"/>
              </a:spcBef>
              <a:spcAft>
                <a:spcPts val="0"/>
              </a:spcAft>
              <a:buSzPts val="1300"/>
              <a:buFont typeface="Roboto Slab"/>
              <a:buChar char="○"/>
            </a:pPr>
            <a:r>
              <a:rPr lang="en" sz="1300">
                <a:latin typeface="Roboto Slab"/>
                <a:ea typeface="Roboto Slab"/>
                <a:cs typeface="Roboto Slab"/>
                <a:sym typeface="Roboto Slab"/>
              </a:rPr>
              <a:t>Intro - introduce the topic, explain the reasoning, lay out what you set out to do.</a:t>
            </a:r>
            <a:endParaRPr sz="1300">
              <a:latin typeface="Roboto Slab"/>
              <a:ea typeface="Roboto Slab"/>
              <a:cs typeface="Roboto Slab"/>
              <a:sym typeface="Roboto Slab"/>
            </a:endParaRPr>
          </a:p>
          <a:p>
            <a:pPr indent="-311150" lvl="1" marL="914400" rtl="0" algn="l">
              <a:lnSpc>
                <a:spcPct val="115000"/>
              </a:lnSpc>
              <a:spcBef>
                <a:spcPts val="0"/>
              </a:spcBef>
              <a:spcAft>
                <a:spcPts val="0"/>
              </a:spcAft>
              <a:buSzPts val="1300"/>
              <a:buFont typeface="Roboto Slab"/>
              <a:buChar char="○"/>
            </a:pPr>
            <a:r>
              <a:rPr lang="en" sz="1300">
                <a:latin typeface="Roboto Slab"/>
                <a:ea typeface="Roboto Slab"/>
                <a:cs typeface="Roboto Slab"/>
                <a:sym typeface="Roboto Slab"/>
              </a:rPr>
              <a:t>‘Lit Review’ (in quotes!) - Why does this topic matter? What resources did you consult?</a:t>
            </a:r>
            <a:endParaRPr sz="1300">
              <a:latin typeface="Roboto Slab"/>
              <a:ea typeface="Roboto Slab"/>
              <a:cs typeface="Roboto Slab"/>
              <a:sym typeface="Roboto Slab"/>
            </a:endParaRPr>
          </a:p>
          <a:p>
            <a:pPr indent="-311150" lvl="1" marL="914400" rtl="0" algn="l">
              <a:lnSpc>
                <a:spcPct val="115000"/>
              </a:lnSpc>
              <a:spcBef>
                <a:spcPts val="0"/>
              </a:spcBef>
              <a:spcAft>
                <a:spcPts val="0"/>
              </a:spcAft>
              <a:buSzPts val="1300"/>
              <a:buFont typeface="Roboto Slab"/>
              <a:buChar char="○"/>
            </a:pPr>
            <a:r>
              <a:rPr lang="en" sz="1300">
                <a:latin typeface="Roboto Slab"/>
                <a:ea typeface="Roboto Slab"/>
                <a:cs typeface="Roboto Slab"/>
                <a:sym typeface="Roboto Slab"/>
              </a:rPr>
              <a:t>Methods - What you did and how. Data sources used, libraries consulted, etc.</a:t>
            </a:r>
            <a:endParaRPr sz="1300">
              <a:latin typeface="Roboto Slab"/>
              <a:ea typeface="Roboto Slab"/>
              <a:cs typeface="Roboto Slab"/>
              <a:sym typeface="Roboto Slab"/>
            </a:endParaRPr>
          </a:p>
          <a:p>
            <a:pPr indent="-311150" lvl="1" marL="914400" rtl="0" algn="l">
              <a:lnSpc>
                <a:spcPct val="115000"/>
              </a:lnSpc>
              <a:spcBef>
                <a:spcPts val="0"/>
              </a:spcBef>
              <a:spcAft>
                <a:spcPts val="0"/>
              </a:spcAft>
              <a:buSzPts val="1300"/>
              <a:buFont typeface="Roboto Slab"/>
              <a:buChar char="○"/>
            </a:pPr>
            <a:r>
              <a:rPr lang="en" sz="1300">
                <a:latin typeface="Roboto Slab"/>
                <a:ea typeface="Roboto Slab"/>
                <a:cs typeface="Roboto Slab"/>
                <a:sym typeface="Roboto Slab"/>
              </a:rPr>
              <a:t>Reflection/Discussion - What worked, what didn’t</a:t>
            </a:r>
            <a:endParaRPr sz="1300">
              <a:latin typeface="Roboto Slab"/>
              <a:ea typeface="Roboto Slab"/>
              <a:cs typeface="Roboto Slab"/>
              <a:sym typeface="Roboto Slab"/>
            </a:endParaRPr>
          </a:p>
          <a:p>
            <a:pPr indent="-311150" lvl="1" marL="914400" rtl="0" algn="l">
              <a:lnSpc>
                <a:spcPct val="115000"/>
              </a:lnSpc>
              <a:spcBef>
                <a:spcPts val="0"/>
              </a:spcBef>
              <a:spcAft>
                <a:spcPts val="0"/>
              </a:spcAft>
              <a:buSzPts val="1300"/>
              <a:buFont typeface="Roboto Slab"/>
              <a:buChar char="○"/>
            </a:pPr>
            <a:r>
              <a:rPr lang="en" sz="1300">
                <a:latin typeface="Roboto Slab"/>
                <a:ea typeface="Roboto Slab"/>
                <a:cs typeface="Roboto Slab"/>
                <a:sym typeface="Roboto Slab"/>
              </a:rPr>
              <a:t>Conclusion - Tell me what you learned and why it mattered. If you were to do more, what would the next step(s) be?</a:t>
            </a:r>
            <a:endParaRPr sz="1300">
              <a:latin typeface="Roboto Slab"/>
              <a:ea typeface="Roboto Slab"/>
              <a:cs typeface="Roboto Slab"/>
              <a:sym typeface="Roboto Slab"/>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300"/>
              <a:buNone/>
            </a:pPr>
            <a:r>
              <a:rPr lang="en">
                <a:latin typeface="Roboto Slab"/>
                <a:ea typeface="Roboto Slab"/>
                <a:cs typeface="Roboto Slab"/>
                <a:sym typeface="Roboto Slab"/>
              </a:rPr>
              <a:t>The secret?</a:t>
            </a:r>
            <a:endParaRPr>
              <a:latin typeface="Roboto Slab"/>
              <a:ea typeface="Roboto Slab"/>
              <a:cs typeface="Roboto Slab"/>
              <a:sym typeface="Roboto Slab"/>
            </a:endParaRPr>
          </a:p>
        </p:txBody>
      </p:sp>
      <p:pic>
        <p:nvPicPr>
          <p:cNvPr id="153" name="Google Shape;153;p12"/>
          <p:cNvPicPr preferRelativeResize="0"/>
          <p:nvPr/>
        </p:nvPicPr>
        <p:blipFill rotWithShape="1">
          <a:blip r:embed="rId3">
            <a:alphaModFix/>
          </a:blip>
          <a:srcRect b="0" l="0" r="0" t="0"/>
          <a:stretch/>
        </p:blipFill>
        <p:spPr>
          <a:xfrm>
            <a:off x="1428750" y="804850"/>
            <a:ext cx="6286500" cy="3533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300"/>
              <a:buNone/>
            </a:pPr>
            <a:r>
              <a:rPr lang="en">
                <a:latin typeface="Roboto Slab"/>
                <a:ea typeface="Roboto Slab"/>
                <a:cs typeface="Roboto Slab"/>
                <a:sym typeface="Roboto Slab"/>
              </a:rPr>
              <a:t>The secret?</a:t>
            </a:r>
            <a:endParaRPr>
              <a:latin typeface="Roboto Slab"/>
              <a:ea typeface="Roboto Slab"/>
              <a:cs typeface="Roboto Slab"/>
              <a:sym typeface="Roboto Slab"/>
            </a:endParaRPr>
          </a:p>
        </p:txBody>
      </p:sp>
      <p:pic>
        <p:nvPicPr>
          <p:cNvPr id="159" name="Google Shape;159;p13"/>
          <p:cNvPicPr preferRelativeResize="0"/>
          <p:nvPr/>
        </p:nvPicPr>
        <p:blipFill rotWithShape="1">
          <a:blip r:embed="rId3">
            <a:alphaModFix/>
          </a:blip>
          <a:srcRect b="0" l="0" r="0" t="0"/>
          <a:stretch/>
        </p:blipFill>
        <p:spPr>
          <a:xfrm>
            <a:off x="1428750" y="804850"/>
            <a:ext cx="6286500" cy="3533775"/>
          </a:xfrm>
          <a:prstGeom prst="rect">
            <a:avLst/>
          </a:prstGeom>
          <a:noFill/>
          <a:ln>
            <a:noFill/>
          </a:ln>
        </p:spPr>
      </p:pic>
      <p:pic>
        <p:nvPicPr>
          <p:cNvPr id="160" name="Google Shape;160;p13"/>
          <p:cNvPicPr preferRelativeResize="0"/>
          <p:nvPr/>
        </p:nvPicPr>
        <p:blipFill rotWithShape="1">
          <a:blip r:embed="rId4">
            <a:alphaModFix/>
          </a:blip>
          <a:srcRect b="0" l="0" r="0" t="0"/>
          <a:stretch/>
        </p:blipFill>
        <p:spPr>
          <a:xfrm>
            <a:off x="1138238" y="733425"/>
            <a:ext cx="6867525" cy="3676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600"/>
              <a:buNone/>
            </a:pPr>
            <a:r>
              <a:rPr lang="en"/>
              <a:t>Maps are powerful. But, that doesn’t always mean they’re appropriate or helpful.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Hamburger Style</a:t>
            </a:r>
            <a:endParaRPr/>
          </a:p>
        </p:txBody>
      </p:sp>
      <p:sp>
        <p:nvSpPr>
          <p:cNvPr id="171" name="Google Shape;171;p1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10000"/>
          </a:bodyPr>
          <a:lstStyle/>
          <a:p>
            <a:pPr indent="-406400" lvl="0" marL="457200" rtl="0" algn="l">
              <a:lnSpc>
                <a:spcPct val="115000"/>
              </a:lnSpc>
              <a:spcBef>
                <a:spcPts val="0"/>
              </a:spcBef>
              <a:spcAft>
                <a:spcPts val="0"/>
              </a:spcAft>
              <a:buSzPts val="2800"/>
              <a:buFont typeface="Roboto Slab"/>
              <a:buAutoNum type="arabicPeriod"/>
            </a:pPr>
            <a:r>
              <a:rPr b="1" lang="en" sz="2800">
                <a:latin typeface="Roboto Slab"/>
                <a:ea typeface="Roboto Slab"/>
                <a:cs typeface="Roboto Slab"/>
                <a:sym typeface="Roboto Slab"/>
              </a:rPr>
              <a:t>Base Map</a:t>
            </a:r>
            <a:endParaRPr b="1" sz="2800">
              <a:latin typeface="Roboto Slab"/>
              <a:ea typeface="Roboto Slab"/>
              <a:cs typeface="Roboto Slab"/>
              <a:sym typeface="Roboto Slab"/>
            </a:endParaRPr>
          </a:p>
          <a:p>
            <a:pPr indent="-355600" lvl="0" marL="457200" rtl="0" algn="l">
              <a:lnSpc>
                <a:spcPct val="115000"/>
              </a:lnSpc>
              <a:spcBef>
                <a:spcPts val="0"/>
              </a:spcBef>
              <a:spcAft>
                <a:spcPts val="0"/>
              </a:spcAft>
              <a:buSzPts val="2000"/>
              <a:buFont typeface="Roboto Slab"/>
              <a:buAutoNum type="arabicPeriod"/>
            </a:pPr>
            <a:r>
              <a:rPr lang="en" sz="2000">
                <a:latin typeface="Roboto Slab"/>
                <a:ea typeface="Roboto Slab"/>
                <a:cs typeface="Roboto Slab"/>
                <a:sym typeface="Roboto Slab"/>
              </a:rPr>
              <a:t>Data Layers</a:t>
            </a:r>
            <a:endParaRPr sz="2000">
              <a:latin typeface="Roboto Slab"/>
              <a:ea typeface="Roboto Slab"/>
              <a:cs typeface="Roboto Slab"/>
              <a:sym typeface="Roboto Slab"/>
            </a:endParaRPr>
          </a:p>
          <a:p>
            <a:pPr indent="-355600" lvl="0" marL="457200" rtl="0" algn="l">
              <a:lnSpc>
                <a:spcPct val="115000"/>
              </a:lnSpc>
              <a:spcBef>
                <a:spcPts val="0"/>
              </a:spcBef>
              <a:spcAft>
                <a:spcPts val="0"/>
              </a:spcAft>
              <a:buSzPts val="2000"/>
              <a:buFont typeface="Roboto Slab"/>
              <a:buAutoNum type="arabicPeriod"/>
            </a:pPr>
            <a:r>
              <a:rPr lang="en" sz="2000">
                <a:latin typeface="Roboto Slab"/>
                <a:ea typeface="Roboto Slab"/>
                <a:cs typeface="Roboto Slab"/>
                <a:sym typeface="Roboto Slab"/>
              </a:rPr>
              <a:t>Interactivity</a:t>
            </a:r>
            <a:endParaRPr sz="2000">
              <a:latin typeface="Roboto Slab"/>
              <a:ea typeface="Roboto Slab"/>
              <a:cs typeface="Roboto Slab"/>
              <a:sym typeface="Roboto Slab"/>
            </a:endParaRPr>
          </a:p>
          <a:p>
            <a:pPr indent="0" lvl="0" marL="0" rtl="0" algn="l">
              <a:lnSpc>
                <a:spcPct val="115000"/>
              </a:lnSpc>
              <a:spcBef>
                <a:spcPts val="1200"/>
              </a:spcBef>
              <a:spcAft>
                <a:spcPts val="0"/>
              </a:spcAft>
              <a:buSzPts val="1300"/>
              <a:buNone/>
            </a:pPr>
            <a:r>
              <a:t/>
            </a:r>
            <a:endParaRPr sz="2000">
              <a:latin typeface="Roboto Slab"/>
              <a:ea typeface="Roboto Slab"/>
              <a:cs typeface="Roboto Slab"/>
              <a:sym typeface="Roboto Slab"/>
            </a:endParaRPr>
          </a:p>
          <a:p>
            <a:pPr indent="0" lvl="0" marL="0" rtl="0" algn="l">
              <a:lnSpc>
                <a:spcPct val="115000"/>
              </a:lnSpc>
              <a:spcBef>
                <a:spcPts val="1200"/>
              </a:spcBef>
              <a:spcAft>
                <a:spcPts val="1200"/>
              </a:spcAft>
              <a:buSzPts val="1300"/>
              <a:buNone/>
            </a:pPr>
            <a:r>
              <a:rPr lang="en" sz="2000">
                <a:latin typeface="Roboto Slab"/>
                <a:ea typeface="Roboto Slab"/>
                <a:cs typeface="Roboto Slab"/>
                <a:sym typeface="Roboto Slab"/>
              </a:rPr>
              <a:t>Does a web map need all three? </a:t>
            </a:r>
            <a:endParaRPr sz="2000">
              <a:latin typeface="Roboto Slab"/>
              <a:ea typeface="Roboto Slab"/>
              <a:cs typeface="Roboto Slab"/>
              <a:sym typeface="Roboto Slab"/>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 many definitions!</a:t>
            </a:r>
            <a:endParaRPr/>
          </a:p>
        </p:txBody>
      </p:sp>
      <p:sp>
        <p:nvSpPr>
          <p:cNvPr id="177" name="Google Shape;177;p1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92500" lnSpcReduction="10000"/>
          </a:bodyPr>
          <a:lstStyle/>
          <a:p>
            <a:pPr indent="-304989" lvl="0" marL="457200" rtl="0" algn="l">
              <a:lnSpc>
                <a:spcPct val="115000"/>
              </a:lnSpc>
              <a:spcBef>
                <a:spcPts val="0"/>
              </a:spcBef>
              <a:spcAft>
                <a:spcPts val="0"/>
              </a:spcAft>
              <a:buSzPct val="100000"/>
              <a:buFont typeface="Roboto Slab"/>
              <a:buChar char="●"/>
            </a:pPr>
            <a:r>
              <a:rPr lang="en">
                <a:latin typeface="Roboto Slab"/>
                <a:ea typeface="Roboto Slab"/>
                <a:cs typeface="Roboto Slab"/>
                <a:sym typeface="Roboto Slab"/>
              </a:rPr>
              <a:t>ESRI </a:t>
            </a:r>
            <a:r>
              <a:rPr lang="en" u="sng">
                <a:solidFill>
                  <a:schemeClr val="hlink"/>
                </a:solidFill>
                <a:latin typeface="Roboto Slab"/>
                <a:ea typeface="Roboto Slab"/>
                <a:cs typeface="Roboto Slab"/>
                <a:sym typeface="Roboto Slab"/>
                <a:hlinkClick r:id="rId3"/>
              </a:rPr>
              <a:t>documentation</a:t>
            </a:r>
            <a:r>
              <a:rPr lang="en">
                <a:latin typeface="Roboto Slab"/>
                <a:ea typeface="Roboto Slab"/>
                <a:cs typeface="Roboto Slab"/>
                <a:sym typeface="Roboto Slab"/>
              </a:rPr>
              <a:t>:</a:t>
            </a:r>
            <a:endParaRPr>
              <a:latin typeface="Roboto Slab"/>
              <a:ea typeface="Roboto Slab"/>
              <a:cs typeface="Roboto Slab"/>
              <a:sym typeface="Roboto Slab"/>
            </a:endParaRPr>
          </a:p>
          <a:p>
            <a:pPr indent="-293242" lvl="1" marL="914400" rtl="0" algn="l">
              <a:lnSpc>
                <a:spcPct val="115000"/>
              </a:lnSpc>
              <a:spcBef>
                <a:spcPts val="0"/>
              </a:spcBef>
              <a:spcAft>
                <a:spcPts val="0"/>
              </a:spcAft>
              <a:buSzPct val="100000"/>
              <a:buFont typeface="Roboto Slab"/>
              <a:buChar char="○"/>
            </a:pPr>
            <a:r>
              <a:rPr i="1" lang="en">
                <a:latin typeface="Roboto Slab"/>
                <a:ea typeface="Roboto Slab"/>
                <a:cs typeface="Roboto Slab"/>
                <a:sym typeface="Roboto Slab"/>
              </a:rPr>
              <a:t>“Basemaps serve as a reference map on which you overlay data from layers and visualize geographic information. An individual basemap can be made of multiple feature, raster, or web layers. Basemaps are the foundation for your maps and provide context for your work.”</a:t>
            </a:r>
            <a:endParaRPr i="1">
              <a:latin typeface="Roboto Slab"/>
              <a:ea typeface="Roboto Slab"/>
              <a:cs typeface="Roboto Slab"/>
              <a:sym typeface="Roboto Slab"/>
            </a:endParaRPr>
          </a:p>
          <a:p>
            <a:pPr indent="-304989" lvl="0" marL="457200" rtl="0" algn="l">
              <a:lnSpc>
                <a:spcPct val="115000"/>
              </a:lnSpc>
              <a:spcBef>
                <a:spcPts val="0"/>
              </a:spcBef>
              <a:spcAft>
                <a:spcPts val="0"/>
              </a:spcAft>
              <a:buSzPct val="100000"/>
              <a:buFont typeface="Roboto Slab"/>
              <a:buChar char="●"/>
            </a:pPr>
            <a:r>
              <a:rPr lang="en">
                <a:latin typeface="Roboto Slab"/>
                <a:ea typeface="Roboto Slab"/>
                <a:cs typeface="Roboto Slab"/>
                <a:sym typeface="Roboto Slab"/>
              </a:rPr>
              <a:t>Merriam Webster’s dictionary: </a:t>
            </a:r>
            <a:endParaRPr>
              <a:latin typeface="Roboto Slab"/>
              <a:ea typeface="Roboto Slab"/>
              <a:cs typeface="Roboto Slab"/>
              <a:sym typeface="Roboto Slab"/>
            </a:endParaRPr>
          </a:p>
          <a:p>
            <a:pPr indent="-293242" lvl="1" marL="914400" rtl="0" algn="l">
              <a:lnSpc>
                <a:spcPct val="115000"/>
              </a:lnSpc>
              <a:spcBef>
                <a:spcPts val="0"/>
              </a:spcBef>
              <a:spcAft>
                <a:spcPts val="0"/>
              </a:spcAft>
              <a:buSzPct val="100000"/>
              <a:buFont typeface="Roboto Slab"/>
              <a:buChar char="○"/>
            </a:pPr>
            <a:r>
              <a:rPr i="1" lang="en">
                <a:latin typeface="Roboto Slab"/>
                <a:ea typeface="Roboto Slab"/>
                <a:cs typeface="Roboto Slab"/>
                <a:sym typeface="Roboto Slab"/>
              </a:rPr>
              <a:t>”</a:t>
            </a:r>
            <a:r>
              <a:rPr i="1" lang="en">
                <a:solidFill>
                  <a:srgbClr val="212529"/>
                </a:solidFill>
                <a:highlight>
                  <a:srgbClr val="FFFFFF"/>
                </a:highlight>
                <a:latin typeface="Roboto Slab"/>
                <a:ea typeface="Roboto Slab"/>
                <a:cs typeface="Roboto Slab"/>
                <a:sym typeface="Roboto Slab"/>
              </a:rPr>
              <a:t>a map having only essential outlines and used for the plotting or presentation of specialized data of various kinds”</a:t>
            </a:r>
            <a:endParaRPr i="1">
              <a:solidFill>
                <a:srgbClr val="212529"/>
              </a:solidFill>
              <a:highlight>
                <a:srgbClr val="FFFFFF"/>
              </a:highlight>
              <a:latin typeface="Roboto Slab"/>
              <a:ea typeface="Roboto Slab"/>
              <a:cs typeface="Roboto Slab"/>
              <a:sym typeface="Roboto Slab"/>
            </a:endParaRPr>
          </a:p>
          <a:p>
            <a:pPr indent="-304989" lvl="0" marL="457200" rtl="0" algn="l">
              <a:lnSpc>
                <a:spcPct val="115000"/>
              </a:lnSpc>
              <a:spcBef>
                <a:spcPts val="0"/>
              </a:spcBef>
              <a:spcAft>
                <a:spcPts val="0"/>
              </a:spcAft>
              <a:buClr>
                <a:srgbClr val="212529"/>
              </a:buClr>
              <a:buSzPct val="100000"/>
              <a:buFont typeface="Roboto Slab"/>
              <a:buChar char="●"/>
            </a:pPr>
            <a:r>
              <a:rPr lang="en">
                <a:solidFill>
                  <a:srgbClr val="212529"/>
                </a:solidFill>
                <a:highlight>
                  <a:srgbClr val="FFFFFF"/>
                </a:highlight>
                <a:latin typeface="Roboto Slab"/>
                <a:ea typeface="Roboto Slab"/>
                <a:cs typeface="Roboto Slab"/>
                <a:sym typeface="Roboto Slab"/>
              </a:rPr>
              <a:t>Geospatial </a:t>
            </a:r>
            <a:r>
              <a:rPr lang="en" u="sng">
                <a:solidFill>
                  <a:schemeClr val="hlink"/>
                </a:solidFill>
                <a:highlight>
                  <a:srgbClr val="FFFFFF"/>
                </a:highlight>
                <a:latin typeface="Roboto Slab"/>
                <a:ea typeface="Roboto Slab"/>
                <a:cs typeface="Roboto Slab"/>
                <a:sym typeface="Roboto Slab"/>
                <a:hlinkClick r:id="rId4"/>
              </a:rPr>
              <a:t>World</a:t>
            </a:r>
            <a:r>
              <a:rPr lang="en">
                <a:solidFill>
                  <a:srgbClr val="212529"/>
                </a:solidFill>
                <a:highlight>
                  <a:srgbClr val="FFFFFF"/>
                </a:highlight>
                <a:latin typeface="Roboto Slab"/>
                <a:ea typeface="Roboto Slab"/>
                <a:cs typeface="Roboto Slab"/>
                <a:sym typeface="Roboto Slab"/>
              </a:rPr>
              <a:t>:</a:t>
            </a:r>
            <a:endParaRPr>
              <a:solidFill>
                <a:srgbClr val="212529"/>
              </a:solidFill>
              <a:highlight>
                <a:srgbClr val="FFFFFF"/>
              </a:highlight>
              <a:latin typeface="Roboto Slab"/>
              <a:ea typeface="Roboto Slab"/>
              <a:cs typeface="Roboto Slab"/>
              <a:sym typeface="Roboto Slab"/>
            </a:endParaRPr>
          </a:p>
          <a:p>
            <a:pPr indent="-296195" lvl="1" marL="914400" rtl="0" algn="l">
              <a:lnSpc>
                <a:spcPct val="115000"/>
              </a:lnSpc>
              <a:spcBef>
                <a:spcPts val="0"/>
              </a:spcBef>
              <a:spcAft>
                <a:spcPts val="0"/>
              </a:spcAft>
              <a:buClr>
                <a:srgbClr val="212529"/>
              </a:buClr>
              <a:buSzPct val="100000"/>
              <a:buFont typeface="Roboto Slab"/>
              <a:buChar char="○"/>
            </a:pPr>
            <a:r>
              <a:rPr i="1" lang="en" sz="1150">
                <a:solidFill>
                  <a:srgbClr val="212529"/>
                </a:solidFill>
                <a:highlight>
                  <a:srgbClr val="FFFFFF"/>
                </a:highlight>
                <a:latin typeface="Roboto Slab"/>
                <a:ea typeface="Roboto Slab"/>
                <a:cs typeface="Roboto Slab"/>
                <a:sym typeface="Roboto Slab"/>
              </a:rPr>
              <a:t>“</a:t>
            </a:r>
            <a:r>
              <a:rPr i="1" lang="en" sz="1150">
                <a:solidFill>
                  <a:srgbClr val="222222"/>
                </a:solidFill>
                <a:highlight>
                  <a:srgbClr val="FFFFFF"/>
                </a:highlight>
                <a:latin typeface="Roboto Slab"/>
                <a:ea typeface="Roboto Slab"/>
                <a:cs typeface="Roboto Slab"/>
                <a:sym typeface="Roboto Slab"/>
              </a:rPr>
              <a:t> A map contains different layers of data with geographic information that serves as a background, called a basemap. A basemap provides context for additional layers overlaid on the reference map. It usually provides location references for features like boundaries, rivers, lakes, roads, and highways.”</a:t>
            </a:r>
            <a:endParaRPr i="1" sz="1150">
              <a:solidFill>
                <a:srgbClr val="222222"/>
              </a:solidFill>
              <a:highlight>
                <a:srgbClr val="FFFFFF"/>
              </a:highlight>
              <a:latin typeface="Roboto Slab"/>
              <a:ea typeface="Roboto Slab"/>
              <a:cs typeface="Roboto Slab"/>
              <a:sym typeface="Roboto Slab"/>
            </a:endParaRPr>
          </a:p>
          <a:p>
            <a:pPr indent="-296195" lvl="0" marL="457200" rtl="0" algn="l">
              <a:lnSpc>
                <a:spcPct val="115000"/>
              </a:lnSpc>
              <a:spcBef>
                <a:spcPts val="0"/>
              </a:spcBef>
              <a:spcAft>
                <a:spcPts val="0"/>
              </a:spcAft>
              <a:buClr>
                <a:srgbClr val="222222"/>
              </a:buClr>
              <a:buSzPct val="100000"/>
              <a:buFont typeface="Roboto Slab"/>
              <a:buChar char="●"/>
            </a:pPr>
            <a:r>
              <a:rPr i="1" lang="en" sz="1150">
                <a:solidFill>
                  <a:srgbClr val="222222"/>
                </a:solidFill>
                <a:highlight>
                  <a:srgbClr val="FFFFFF"/>
                </a:highlight>
                <a:latin typeface="Roboto Slab"/>
                <a:ea typeface="Roboto Slab"/>
                <a:cs typeface="Roboto Slab"/>
                <a:sym typeface="Roboto Slab"/>
              </a:rPr>
              <a:t>… and so on.</a:t>
            </a:r>
            <a:endParaRPr i="1" sz="1150">
              <a:solidFill>
                <a:srgbClr val="222222"/>
              </a:solidFill>
              <a:highlight>
                <a:srgbClr val="FFFFFF"/>
              </a:highlight>
              <a:latin typeface="Roboto Slab"/>
              <a:ea typeface="Roboto Slab"/>
              <a:cs typeface="Roboto Slab"/>
              <a:sym typeface="Roboto Slab"/>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 many definitions!</a:t>
            </a:r>
            <a:endParaRPr/>
          </a:p>
        </p:txBody>
      </p:sp>
      <p:pic>
        <p:nvPicPr>
          <p:cNvPr id="183" name="Google Shape;183;p17"/>
          <p:cNvPicPr preferRelativeResize="0"/>
          <p:nvPr/>
        </p:nvPicPr>
        <p:blipFill rotWithShape="1">
          <a:blip r:embed="rId3">
            <a:alphaModFix/>
          </a:blip>
          <a:srcRect b="0" l="0" r="0" t="0"/>
          <a:stretch/>
        </p:blipFill>
        <p:spPr>
          <a:xfrm>
            <a:off x="1565446" y="1853850"/>
            <a:ext cx="6013115" cy="32896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 last note… (or two)</a:t>
            </a:r>
            <a:endParaRPr/>
          </a:p>
        </p:txBody>
      </p:sp>
      <p:sp>
        <p:nvSpPr>
          <p:cNvPr id="189" name="Google Shape;189;p1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317500" lvl="0" marL="457200" rtl="0" algn="l">
              <a:lnSpc>
                <a:spcPct val="105000"/>
              </a:lnSpc>
              <a:spcBef>
                <a:spcPts val="0"/>
              </a:spcBef>
              <a:spcAft>
                <a:spcPts val="0"/>
              </a:spcAft>
              <a:buSzPts val="1400"/>
              <a:buFont typeface="Roboto Slab"/>
              <a:buChar char="●"/>
            </a:pPr>
            <a:r>
              <a:rPr lang="en" sz="1400">
                <a:latin typeface="Roboto Slab"/>
                <a:ea typeface="Roboto Slab"/>
                <a:cs typeface="Roboto Slab"/>
                <a:sym typeface="Roboto Slab"/>
              </a:rPr>
              <a:t>GIST - “Web GIS”:</a:t>
            </a:r>
            <a:endParaRPr sz="1400">
              <a:latin typeface="Roboto Slab"/>
              <a:ea typeface="Roboto Slab"/>
              <a:cs typeface="Roboto Slab"/>
              <a:sym typeface="Roboto Slab"/>
            </a:endParaRPr>
          </a:p>
          <a:p>
            <a:pPr indent="-298450" lvl="1" marL="914400" rtl="0" algn="l">
              <a:lnSpc>
                <a:spcPct val="105000"/>
              </a:lnSpc>
              <a:spcBef>
                <a:spcPts val="0"/>
              </a:spcBef>
              <a:spcAft>
                <a:spcPts val="0"/>
              </a:spcAft>
              <a:buSzPts val="1100"/>
              <a:buChar char="○"/>
            </a:pPr>
            <a:r>
              <a:rPr i="1" lang="en" sz="1200">
                <a:latin typeface="Roboto Slab"/>
                <a:ea typeface="Roboto Slab"/>
                <a:cs typeface="Roboto Slab"/>
                <a:sym typeface="Roboto Slab"/>
              </a:rPr>
              <a:t>“</a:t>
            </a:r>
            <a:r>
              <a:rPr i="1" lang="en" sz="1150">
                <a:solidFill>
                  <a:srgbClr val="6C6C6C"/>
                </a:solidFill>
                <a:latin typeface="Roboto Slab"/>
                <a:ea typeface="Roboto Slab"/>
                <a:cs typeface="Roboto Slab"/>
                <a:sym typeface="Roboto Slab"/>
              </a:rPr>
              <a:t> Decoupling the base map from the thematic layers allows clients to re-use base maps in many applications, or employ base maps from well-known third parties, such as Google Maps. The term “mashup” is often used to describe a map created from two or more web services in this way.”</a:t>
            </a:r>
            <a:endParaRPr i="1" sz="1150">
              <a:solidFill>
                <a:srgbClr val="6C6C6C"/>
              </a:solidFill>
              <a:latin typeface="Roboto Slab"/>
              <a:ea typeface="Roboto Slab"/>
              <a:cs typeface="Roboto Slab"/>
              <a:sym typeface="Roboto Slab"/>
            </a:endParaRPr>
          </a:p>
          <a:p>
            <a:pPr indent="-317500" lvl="0" marL="457200" rtl="0" algn="l">
              <a:lnSpc>
                <a:spcPct val="105000"/>
              </a:lnSpc>
              <a:spcBef>
                <a:spcPts val="0"/>
              </a:spcBef>
              <a:spcAft>
                <a:spcPts val="0"/>
              </a:spcAft>
              <a:buClr>
                <a:srgbClr val="6C6C6C"/>
              </a:buClr>
              <a:buSzPts val="1400"/>
              <a:buFont typeface="Roboto Slab"/>
              <a:buChar char="●"/>
            </a:pPr>
            <a:r>
              <a:rPr lang="en" sz="1400">
                <a:solidFill>
                  <a:srgbClr val="6C6C6C"/>
                </a:solidFill>
                <a:latin typeface="Roboto Slab"/>
                <a:ea typeface="Roboto Slab"/>
                <a:cs typeface="Roboto Slab"/>
                <a:sym typeface="Roboto Slab"/>
              </a:rPr>
              <a:t>GIST - “Map Projections”:</a:t>
            </a:r>
            <a:endParaRPr sz="1400">
              <a:solidFill>
                <a:srgbClr val="6C6C6C"/>
              </a:solidFill>
              <a:latin typeface="Roboto Slab"/>
              <a:ea typeface="Roboto Slab"/>
              <a:cs typeface="Roboto Slab"/>
              <a:sym typeface="Roboto Slab"/>
            </a:endParaRPr>
          </a:p>
          <a:p>
            <a:pPr indent="-301625" lvl="1" marL="914400" rtl="0" algn="l">
              <a:lnSpc>
                <a:spcPct val="105000"/>
              </a:lnSpc>
              <a:spcBef>
                <a:spcPts val="0"/>
              </a:spcBef>
              <a:spcAft>
                <a:spcPts val="0"/>
              </a:spcAft>
              <a:buClr>
                <a:srgbClr val="6C6C6C"/>
              </a:buClr>
              <a:buSzPts val="1150"/>
              <a:buFont typeface="Roboto Slab"/>
              <a:buChar char="○"/>
            </a:pPr>
            <a:r>
              <a:rPr i="1" lang="en" sz="1150">
                <a:solidFill>
                  <a:srgbClr val="6C6C6C"/>
                </a:solidFill>
                <a:latin typeface="Roboto Slab"/>
                <a:ea typeface="Roboto Slab"/>
                <a:cs typeface="Roboto Slab"/>
                <a:sym typeface="Roboto Slab"/>
              </a:rPr>
              <a:t>When designing maps for distribution online, there are often limited options for selecting the projection for a given map. If the data is ‘mashed up’ onto an existing tiled basemap, the projection is likely to be the Web Mercator projection, a variant on the Mercator projection. The Web Mercator is a nearly conformal projection, and thus, has been suggested as inappropriate for many small-scale thematic mapping purposes (see Battersby et al. 2014 for discussion). The use of Web Mercator for web mapping applications presents serious limitations for both spatial analysis and visual analysis. However, in current web mapping environments, projection choice is often limited.</a:t>
            </a:r>
            <a:endParaRPr i="1" sz="1150">
              <a:solidFill>
                <a:srgbClr val="6C6C6C"/>
              </a:solidFill>
              <a:latin typeface="Roboto Slab"/>
              <a:ea typeface="Roboto Slab"/>
              <a:cs typeface="Roboto Slab"/>
              <a:sym typeface="Roboto Slab"/>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Where does that leave us?</a:t>
            </a:r>
            <a:endParaRPr/>
          </a:p>
        </p:txBody>
      </p:sp>
      <p:sp>
        <p:nvSpPr>
          <p:cNvPr id="195" name="Google Shape;195;p19"/>
          <p:cNvSpPr txBox="1"/>
          <p:nvPr>
            <p:ph idx="1" type="body"/>
          </p:nvPr>
        </p:nvSpPr>
        <p:spPr>
          <a:xfrm>
            <a:off x="653125" y="2078875"/>
            <a:ext cx="3774300" cy="2261100"/>
          </a:xfrm>
          <a:prstGeom prst="rect">
            <a:avLst/>
          </a:prstGeom>
          <a:noFill/>
          <a:ln>
            <a:noFill/>
          </a:ln>
        </p:spPr>
        <p:txBody>
          <a:bodyPr anchorCtr="0" anchor="t" bIns="91425" lIns="91425" spcFirstLastPara="1" rIns="91425" wrap="square" tIns="91425">
            <a:normAutofit lnSpcReduction="10000"/>
          </a:bodyPr>
          <a:lstStyle/>
          <a:p>
            <a:pPr indent="-311150" lvl="0" marL="457200" rtl="0" algn="l">
              <a:lnSpc>
                <a:spcPct val="115000"/>
              </a:lnSpc>
              <a:spcBef>
                <a:spcPts val="0"/>
              </a:spcBef>
              <a:spcAft>
                <a:spcPts val="0"/>
              </a:spcAft>
              <a:buSzPts val="1300"/>
              <a:buChar char="●"/>
            </a:pPr>
            <a:r>
              <a:rPr lang="en"/>
              <a:t>Notice the wiggle room in many definitions (“many”, “most”, etc… but not </a:t>
            </a:r>
            <a:r>
              <a:rPr b="1" lang="en"/>
              <a:t>all</a:t>
            </a:r>
            <a:r>
              <a:rPr lang="en"/>
              <a:t>).</a:t>
            </a:r>
            <a:endParaRPr/>
          </a:p>
          <a:p>
            <a:pPr indent="-311150" lvl="0" marL="457200" rtl="0" algn="l">
              <a:lnSpc>
                <a:spcPct val="115000"/>
              </a:lnSpc>
              <a:spcBef>
                <a:spcPts val="0"/>
              </a:spcBef>
              <a:spcAft>
                <a:spcPts val="0"/>
              </a:spcAft>
              <a:buSzPts val="1300"/>
              <a:buChar char="●"/>
            </a:pPr>
            <a:r>
              <a:rPr lang="en"/>
              <a:t>Charlie Frye:</a:t>
            </a:r>
            <a:endParaRPr/>
          </a:p>
          <a:p>
            <a:pPr indent="-298450" lvl="1" marL="914400" rtl="0" algn="l">
              <a:lnSpc>
                <a:spcPct val="115000"/>
              </a:lnSpc>
              <a:spcBef>
                <a:spcPts val="0"/>
              </a:spcBef>
              <a:spcAft>
                <a:spcPts val="0"/>
              </a:spcAft>
              <a:buSzPts val="1100"/>
              <a:buChar char="○"/>
            </a:pPr>
            <a:r>
              <a:rPr i="1" lang="en">
                <a:latin typeface="Roboto Slab"/>
                <a:ea typeface="Roboto Slab"/>
                <a:cs typeface="Roboto Slab"/>
                <a:sym typeface="Roboto Slab"/>
              </a:rPr>
              <a:t>“</a:t>
            </a:r>
            <a:r>
              <a:rPr i="1" lang="en" sz="1500">
                <a:solidFill>
                  <a:srgbClr val="4C4C4C"/>
                </a:solidFill>
                <a:highlight>
                  <a:srgbClr val="FFFFFF"/>
                </a:highlight>
                <a:latin typeface="Roboto Slab"/>
                <a:ea typeface="Roboto Slab"/>
                <a:cs typeface="Roboto Slab"/>
                <a:sym typeface="Roboto Slab"/>
              </a:rPr>
              <a:t>The base map is the part of the map I don’t have to make.” To that, I say, who should make it, who will use it, and what will they do with it?”</a:t>
            </a:r>
            <a:endParaRPr i="1">
              <a:latin typeface="Roboto Slab"/>
              <a:ea typeface="Roboto Slab"/>
              <a:cs typeface="Roboto Slab"/>
              <a:sym typeface="Roboto Slab"/>
            </a:endParaRPr>
          </a:p>
        </p:txBody>
      </p:sp>
      <p:pic>
        <p:nvPicPr>
          <p:cNvPr id="196" name="Google Shape;196;p19"/>
          <p:cNvPicPr preferRelativeResize="0"/>
          <p:nvPr/>
        </p:nvPicPr>
        <p:blipFill rotWithShape="1">
          <a:blip r:embed="rId3">
            <a:alphaModFix/>
          </a:blip>
          <a:srcRect b="0" l="0" r="0" t="0"/>
          <a:stretch/>
        </p:blipFill>
        <p:spPr>
          <a:xfrm>
            <a:off x="4385100" y="1853850"/>
            <a:ext cx="4758902" cy="2676874"/>
          </a:xfrm>
          <a:prstGeom prst="rect">
            <a:avLst/>
          </a:prstGeom>
          <a:noFill/>
          <a:ln>
            <a:noFill/>
          </a:ln>
        </p:spPr>
      </p:pic>
      <p:sp>
        <p:nvSpPr>
          <p:cNvPr id="197" name="Google Shape;197;p19"/>
          <p:cNvSpPr txBox="1"/>
          <p:nvPr/>
        </p:nvSpPr>
        <p:spPr>
          <a:xfrm>
            <a:off x="873000" y="4451825"/>
            <a:ext cx="74013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Slab"/>
                <a:ea typeface="Roboto Slab"/>
                <a:cs typeface="Roboto Slab"/>
                <a:sym typeface="Roboto Slab"/>
              </a:rPr>
              <a:t>Also, let’s go here just to see how cool this can get… </a:t>
            </a:r>
            <a:r>
              <a:rPr b="0" i="0" lang="en" sz="1400" u="sng" cap="none" strike="noStrike">
                <a:solidFill>
                  <a:schemeClr val="hlink"/>
                </a:solidFill>
                <a:latin typeface="Roboto Slab"/>
                <a:ea typeface="Roboto Slab"/>
                <a:cs typeface="Roboto Slab"/>
                <a:sym typeface="Roboto Slab"/>
                <a:hlinkClick r:id="rId4"/>
              </a:rPr>
              <a:t>https://philogb.github.io/page/myriahedral/</a:t>
            </a:r>
            <a:endParaRPr b="0" i="0" sz="14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Where does that leave us?</a:t>
            </a:r>
            <a:endParaRPr/>
          </a:p>
        </p:txBody>
      </p:sp>
      <p:sp>
        <p:nvSpPr>
          <p:cNvPr id="203" name="Google Shape;203;p20"/>
          <p:cNvSpPr txBox="1"/>
          <p:nvPr>
            <p:ph idx="1" type="body"/>
          </p:nvPr>
        </p:nvSpPr>
        <p:spPr>
          <a:xfrm>
            <a:off x="0" y="1909813"/>
            <a:ext cx="8203200" cy="1415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Roboto Slab"/>
              <a:buChar char="●"/>
            </a:pPr>
            <a:r>
              <a:rPr lang="en" sz="1600">
                <a:latin typeface="Roboto Slab"/>
                <a:ea typeface="Roboto Slab"/>
                <a:cs typeface="Roboto Slab"/>
                <a:sym typeface="Roboto Slab"/>
              </a:rPr>
              <a:t>Almost ‘two’ sorts of Base Maps:</a:t>
            </a:r>
            <a:endParaRPr sz="1600">
              <a:latin typeface="Roboto Slab"/>
              <a:ea typeface="Roboto Slab"/>
              <a:cs typeface="Roboto Slab"/>
              <a:sym typeface="Roboto Slab"/>
            </a:endParaRPr>
          </a:p>
          <a:p>
            <a:pPr indent="-317500" lvl="1" marL="9144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Broadly referring to the reference material that is not the focus of the map, but included to situate and orient the map reader.</a:t>
            </a:r>
            <a:endParaRPr sz="1400">
              <a:latin typeface="Roboto Slab"/>
              <a:ea typeface="Roboto Slab"/>
              <a:cs typeface="Roboto Slab"/>
              <a:sym typeface="Roboto Slab"/>
            </a:endParaRPr>
          </a:p>
          <a:p>
            <a:pPr indent="-317500" lvl="2" marL="1371600" rtl="0" algn="l">
              <a:lnSpc>
                <a:spcPct val="115000"/>
              </a:lnSpc>
              <a:spcBef>
                <a:spcPts val="0"/>
              </a:spcBef>
              <a:spcAft>
                <a:spcPts val="0"/>
              </a:spcAft>
              <a:buSzPts val="1400"/>
              <a:buFont typeface="Roboto Slab"/>
              <a:buChar char="■"/>
            </a:pPr>
            <a:r>
              <a:rPr lang="en" sz="1400">
                <a:latin typeface="Roboto Slab"/>
                <a:ea typeface="Roboto Slab"/>
                <a:cs typeface="Roboto Slab"/>
                <a:sym typeface="Roboto Slab"/>
              </a:rPr>
              <a:t>May or may not exist, may or may not be created for the specifci map</a:t>
            </a:r>
            <a:endParaRPr sz="1400">
              <a:latin typeface="Roboto Slab"/>
              <a:ea typeface="Roboto Slab"/>
              <a:cs typeface="Roboto Slab"/>
              <a:sym typeface="Roboto Slab"/>
            </a:endParaRPr>
          </a:p>
        </p:txBody>
      </p:sp>
      <p:pic>
        <p:nvPicPr>
          <p:cNvPr id="204" name="Google Shape;204;p20"/>
          <p:cNvPicPr preferRelativeResize="0"/>
          <p:nvPr/>
        </p:nvPicPr>
        <p:blipFill rotWithShape="1">
          <a:blip r:embed="rId3">
            <a:alphaModFix/>
          </a:blip>
          <a:srcRect b="0" l="0" r="0" t="0"/>
          <a:stretch/>
        </p:blipFill>
        <p:spPr>
          <a:xfrm>
            <a:off x="4571999" y="3494335"/>
            <a:ext cx="4572001" cy="1649165"/>
          </a:xfrm>
          <a:prstGeom prst="rect">
            <a:avLst/>
          </a:prstGeom>
          <a:noFill/>
          <a:ln>
            <a:noFill/>
          </a:ln>
        </p:spPr>
      </p:pic>
      <p:sp>
        <p:nvSpPr>
          <p:cNvPr id="205" name="Google Shape;205;p20"/>
          <p:cNvSpPr txBox="1"/>
          <p:nvPr/>
        </p:nvSpPr>
        <p:spPr>
          <a:xfrm>
            <a:off x="0" y="3108375"/>
            <a:ext cx="4519200" cy="2134800"/>
          </a:xfrm>
          <a:prstGeom prst="rect">
            <a:avLst/>
          </a:prstGeom>
          <a:noFill/>
          <a:ln>
            <a:noFill/>
          </a:ln>
        </p:spPr>
        <p:txBody>
          <a:bodyPr anchorCtr="0" anchor="t" bIns="91425" lIns="91425" spcFirstLastPara="1" rIns="91425" wrap="square" tIns="91425">
            <a:spAutoFit/>
          </a:bodyPr>
          <a:lstStyle/>
          <a:p>
            <a:pPr indent="-317500" lvl="1" marL="914400" marR="0" rtl="0" algn="l">
              <a:lnSpc>
                <a:spcPct val="115000"/>
              </a:lnSpc>
              <a:spcBef>
                <a:spcPts val="0"/>
              </a:spcBef>
              <a:spcAft>
                <a:spcPts val="0"/>
              </a:spcAft>
              <a:buClr>
                <a:schemeClr val="accent1"/>
              </a:buClr>
              <a:buSzPts val="1400"/>
              <a:buFont typeface="Roboto Slab"/>
              <a:buChar char="○"/>
            </a:pPr>
            <a:r>
              <a:rPr b="0" i="0" lang="en" sz="1400" u="none" cap="none" strike="noStrike">
                <a:solidFill>
                  <a:schemeClr val="accent1"/>
                </a:solidFill>
                <a:latin typeface="Roboto Slab"/>
                <a:ea typeface="Roboto Slab"/>
                <a:cs typeface="Roboto Slab"/>
                <a:sym typeface="Roboto Slab"/>
              </a:rPr>
              <a:t>The set of tiles on which data layers are placed in interactive (and increasingly ‘static’) cartography</a:t>
            </a:r>
            <a:endParaRPr b="0" i="0" sz="1400" u="none" cap="none" strike="noStrike">
              <a:solidFill>
                <a:schemeClr val="accent1"/>
              </a:solidFill>
              <a:latin typeface="Roboto Slab"/>
              <a:ea typeface="Roboto Slab"/>
              <a:cs typeface="Roboto Slab"/>
              <a:sym typeface="Roboto Slab"/>
            </a:endParaRPr>
          </a:p>
          <a:p>
            <a:pPr indent="-317500" lvl="2" marL="1371600" marR="0" rtl="0" algn="l">
              <a:lnSpc>
                <a:spcPct val="115000"/>
              </a:lnSpc>
              <a:spcBef>
                <a:spcPts val="0"/>
              </a:spcBef>
              <a:spcAft>
                <a:spcPts val="0"/>
              </a:spcAft>
              <a:buClr>
                <a:schemeClr val="accent1"/>
              </a:buClr>
              <a:buSzPts val="1400"/>
              <a:buFont typeface="Roboto Slab"/>
              <a:buChar char="■"/>
            </a:pPr>
            <a:r>
              <a:rPr b="0" i="0" lang="en" sz="1400" u="none" cap="none" strike="noStrike">
                <a:solidFill>
                  <a:schemeClr val="accent1"/>
                </a:solidFill>
                <a:latin typeface="Roboto Slab"/>
                <a:ea typeface="Roboto Slab"/>
                <a:cs typeface="Roboto Slab"/>
                <a:sym typeface="Roboto Slab"/>
              </a:rPr>
              <a:t>Usually present in ‘web maps’ (but not always!)</a:t>
            </a:r>
            <a:endParaRPr b="0" i="0" sz="1400" u="none" cap="none" strike="noStrike">
              <a:solidFill>
                <a:schemeClr val="accent1"/>
              </a:solidFill>
              <a:latin typeface="Roboto Slab"/>
              <a:ea typeface="Roboto Slab"/>
              <a:cs typeface="Roboto Slab"/>
              <a:sym typeface="Roboto Slab"/>
            </a:endParaRPr>
          </a:p>
          <a:p>
            <a:pPr indent="-317500" lvl="2" marL="1371600" marR="0" rtl="0" algn="l">
              <a:lnSpc>
                <a:spcPct val="115000"/>
              </a:lnSpc>
              <a:spcBef>
                <a:spcPts val="0"/>
              </a:spcBef>
              <a:spcAft>
                <a:spcPts val="0"/>
              </a:spcAft>
              <a:buClr>
                <a:schemeClr val="accent1"/>
              </a:buClr>
              <a:buSzPts val="1400"/>
              <a:buFont typeface="Roboto Slab"/>
              <a:buChar char="■"/>
            </a:pPr>
            <a:r>
              <a:rPr b="0" i="0" lang="en" sz="1400" u="none" cap="none" strike="noStrike">
                <a:solidFill>
                  <a:schemeClr val="accent1"/>
                </a:solidFill>
                <a:latin typeface="Roboto Slab"/>
                <a:ea typeface="Roboto Slab"/>
                <a:cs typeface="Roboto Slab"/>
                <a:sym typeface="Roboto Slab"/>
              </a:rPr>
              <a:t>For web maps, usually static tiles pre-rendered and loaded from ‘somewhere’</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Where does that leave us?</a:t>
            </a:r>
            <a:endParaRPr/>
          </a:p>
        </p:txBody>
      </p:sp>
      <p:sp>
        <p:nvSpPr>
          <p:cNvPr id="211" name="Google Shape;211;p2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Font typeface="Roboto Slab"/>
              <a:buChar char="●"/>
            </a:pPr>
            <a:r>
              <a:rPr lang="en" sz="1800">
                <a:latin typeface="Roboto Slab"/>
                <a:ea typeface="Roboto Slab"/>
                <a:cs typeface="Roboto Slab"/>
                <a:sym typeface="Roboto Slab"/>
              </a:rPr>
              <a:t>In the coming weeks, we’ll </a:t>
            </a:r>
            <a:r>
              <a:rPr i="1" lang="en" sz="1800">
                <a:latin typeface="Roboto Slab"/>
                <a:ea typeface="Roboto Slab"/>
                <a:cs typeface="Roboto Slab"/>
                <a:sym typeface="Roboto Slab"/>
              </a:rPr>
              <a:t>style our own base maps</a:t>
            </a:r>
            <a:r>
              <a:rPr lang="en" sz="1800">
                <a:latin typeface="Roboto Slab"/>
                <a:ea typeface="Roboto Slab"/>
                <a:cs typeface="Roboto Slab"/>
                <a:sym typeface="Roboto Slab"/>
              </a:rPr>
              <a:t>, but - today - let’s take a look at some that are easily usable online.</a:t>
            </a:r>
            <a:endParaRPr sz="1800">
              <a:latin typeface="Roboto Slab"/>
              <a:ea typeface="Roboto Slab"/>
              <a:cs typeface="Roboto Slab"/>
              <a:sym typeface="Roboto Slab"/>
            </a:endParaRPr>
          </a:p>
          <a:p>
            <a:pPr indent="-342900" lvl="0" marL="457200" rtl="0" algn="l">
              <a:lnSpc>
                <a:spcPct val="115000"/>
              </a:lnSpc>
              <a:spcBef>
                <a:spcPts val="0"/>
              </a:spcBef>
              <a:spcAft>
                <a:spcPts val="0"/>
              </a:spcAft>
              <a:buSzPts val="1800"/>
              <a:buFont typeface="Roboto Slab"/>
              <a:buChar char="●"/>
            </a:pPr>
            <a:r>
              <a:rPr lang="en" sz="1800">
                <a:latin typeface="Roboto Slab"/>
                <a:ea typeface="Roboto Slab"/>
                <a:cs typeface="Roboto Slab"/>
                <a:sym typeface="Roboto Slab"/>
              </a:rPr>
              <a:t>Go here:</a:t>
            </a:r>
            <a:endParaRPr sz="1800">
              <a:latin typeface="Roboto Slab"/>
              <a:ea typeface="Roboto Slab"/>
              <a:cs typeface="Roboto Slab"/>
              <a:sym typeface="Roboto Slab"/>
            </a:endParaRPr>
          </a:p>
          <a:p>
            <a:pPr indent="-330200" lvl="1" marL="914400" rtl="0" algn="l">
              <a:lnSpc>
                <a:spcPct val="115000"/>
              </a:lnSpc>
              <a:spcBef>
                <a:spcPts val="0"/>
              </a:spcBef>
              <a:spcAft>
                <a:spcPts val="0"/>
              </a:spcAft>
              <a:buSzPts val="1600"/>
              <a:buFont typeface="Roboto Slab"/>
              <a:buChar char="○"/>
            </a:pPr>
            <a:r>
              <a:rPr lang="en" sz="1600" u="sng">
                <a:solidFill>
                  <a:schemeClr val="hlink"/>
                </a:solidFill>
                <a:latin typeface="Roboto Slab"/>
                <a:ea typeface="Roboto Slab"/>
                <a:cs typeface="Roboto Slab"/>
                <a:sym typeface="Roboto Slab"/>
                <a:hlinkClick r:id="rId3"/>
              </a:rPr>
              <a:t>https://leaflet-extras.github.io/leaflet-providers/preview/</a:t>
            </a:r>
            <a:endParaRPr sz="1600">
              <a:latin typeface="Roboto Slab"/>
              <a:ea typeface="Roboto Slab"/>
              <a:cs typeface="Roboto Slab"/>
              <a:sym typeface="Roboto Slab"/>
            </a:endParaRPr>
          </a:p>
          <a:p>
            <a:pPr indent="-342900" lvl="0" marL="457200" rtl="0" algn="l">
              <a:lnSpc>
                <a:spcPct val="115000"/>
              </a:lnSpc>
              <a:spcBef>
                <a:spcPts val="0"/>
              </a:spcBef>
              <a:spcAft>
                <a:spcPts val="0"/>
              </a:spcAft>
              <a:buSzPts val="1800"/>
              <a:buFont typeface="Roboto Slab"/>
              <a:buChar char="●"/>
            </a:pPr>
            <a:r>
              <a:rPr lang="en" sz="1800">
                <a:latin typeface="Roboto Slab"/>
                <a:ea typeface="Roboto Slab"/>
                <a:cs typeface="Roboto Slab"/>
                <a:sym typeface="Roboto Slab"/>
              </a:rPr>
              <a:t>Find a basemap (tileset) or two that you like and add them to leaflet maps…</a:t>
            </a:r>
            <a:endParaRPr sz="1800">
              <a:latin typeface="Roboto Slab"/>
              <a:ea typeface="Roboto Slab"/>
              <a:cs typeface="Roboto Slab"/>
              <a:sym typeface="Roboto Slab"/>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Copy some of this (but not all!)</a:t>
            </a:r>
            <a:endParaRPr/>
          </a:p>
        </p:txBody>
      </p:sp>
      <p:pic>
        <p:nvPicPr>
          <p:cNvPr id="217" name="Google Shape;217;p22"/>
          <p:cNvPicPr preferRelativeResize="0"/>
          <p:nvPr/>
        </p:nvPicPr>
        <p:blipFill rotWithShape="1">
          <a:blip r:embed="rId3">
            <a:alphaModFix/>
          </a:blip>
          <a:srcRect b="0" l="0" r="0" t="0"/>
          <a:stretch/>
        </p:blipFill>
        <p:spPr>
          <a:xfrm>
            <a:off x="344800" y="2074150"/>
            <a:ext cx="8300213" cy="2984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p:cNvPicPr preferRelativeResize="0"/>
          <p:nvPr/>
        </p:nvPicPr>
        <p:blipFill rotWithShape="1">
          <a:blip r:embed="rId3">
            <a:alphaModFix/>
          </a:blip>
          <a:srcRect b="0" l="0" r="0" t="0"/>
          <a:stretch/>
        </p:blipFill>
        <p:spPr>
          <a:xfrm>
            <a:off x="152400" y="1388350"/>
            <a:ext cx="8839202" cy="1183390"/>
          </a:xfrm>
          <a:prstGeom prst="rect">
            <a:avLst/>
          </a:prstGeom>
          <a:noFill/>
          <a:ln>
            <a:noFill/>
          </a:ln>
        </p:spPr>
      </p:pic>
      <p:pic>
        <p:nvPicPr>
          <p:cNvPr id="223" name="Google Shape;223;p23"/>
          <p:cNvPicPr preferRelativeResize="0"/>
          <p:nvPr/>
        </p:nvPicPr>
        <p:blipFill rotWithShape="1">
          <a:blip r:embed="rId4">
            <a:alphaModFix/>
          </a:blip>
          <a:srcRect b="0" l="0" r="0" t="0"/>
          <a:stretch/>
        </p:blipFill>
        <p:spPr>
          <a:xfrm>
            <a:off x="152400" y="3821865"/>
            <a:ext cx="8839203" cy="972577"/>
          </a:xfrm>
          <a:prstGeom prst="rect">
            <a:avLst/>
          </a:prstGeom>
          <a:noFill/>
          <a:ln>
            <a:noFill/>
          </a:ln>
        </p:spPr>
      </p:pic>
      <p:cxnSp>
        <p:nvCxnSpPr>
          <p:cNvPr id="224" name="Google Shape;224;p23"/>
          <p:cNvCxnSpPr>
            <a:stCxn id="222" idx="2"/>
            <a:endCxn id="223" idx="0"/>
          </p:cNvCxnSpPr>
          <p:nvPr/>
        </p:nvCxnSpPr>
        <p:spPr>
          <a:xfrm>
            <a:off x="4572001" y="2571740"/>
            <a:ext cx="0" cy="12501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24"/>
          <p:cNvPicPr preferRelativeResize="0"/>
          <p:nvPr/>
        </p:nvPicPr>
        <p:blipFill rotWithShape="1">
          <a:blip r:embed="rId3">
            <a:alphaModFix/>
          </a:blip>
          <a:srcRect b="0" l="0" r="0" t="0"/>
          <a:stretch/>
        </p:blipFill>
        <p:spPr>
          <a:xfrm>
            <a:off x="1211063" y="152400"/>
            <a:ext cx="6721869"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